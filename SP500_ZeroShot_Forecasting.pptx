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DCF9-0DF9-8091-6E57-758668482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63C3D-C80D-41E5-613B-2DEAAD99C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BE6D9-D83E-CF02-E90C-B0173DF7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B03B7-F1D2-B62D-8AE7-B4186890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968EE-3677-1058-817A-472B77F6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A915-BF1E-6431-1E3C-8BF6DF22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33B2-C389-C10C-4D80-6EC1C7FD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5520C-0CFA-988B-325A-DEAE9F74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254F3-DE37-577F-ACA5-A08CEEDF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D3661-5495-0559-F9CD-B69C6CC4C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0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CA00-9B0D-0223-DB77-C705AF2B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B5620-AB61-93DC-4701-875311FB5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F33AC-8F7B-FEFF-568E-1572E170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52E0A-22CA-0574-07EC-4E6E0D05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9534-7562-1A19-BCF9-9060CD3F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5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0E41-7478-2EF8-CB8D-63B452FF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8A77A-0A3B-3C07-349C-A2BEF1D22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406E1-B166-CE45-52F7-B2B511774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9F8A2-631C-EABD-F343-87B268181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6A312-49A7-804B-9CE1-974B575E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801BD-06D1-A67E-832B-B0D19FCA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65A2-7C70-0C7F-9F23-645FD87E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562EA-CAEF-69C1-99B1-1E70BB4D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723D-0B6C-51DC-CEDD-30E21093E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EBC15-CBF7-F64E-05F7-2E63F0579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2129F-D67A-0CF0-A018-60056F039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25762-10BC-44B8-766D-FEAD477A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CA218-DB17-AB37-91C2-F10CA3C8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46CFB2-566C-C908-7E23-D80D9124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0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7C72-9E9A-6603-9953-D2369996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BF163-DD79-F51A-CCF1-AF00D3E0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2521F-C40E-6CAA-49A4-8680AA36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6A74C-916A-1F7A-7934-2672B8D4D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D80C8-6376-4B34-68EF-165CF047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C6E1A-0492-B57B-DA11-1A409679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B6DFD-C270-2DE8-25DB-649E3E3B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9465-1B02-8652-A690-0CF04124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6B291-B42F-5E57-B9FC-07C91D52F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4EB8F-76F0-DFEB-14F8-B247A6438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FE1A9-B7EF-B4B4-D556-B7F3C856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9C80E-7664-5D11-29D4-0124E607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78A3D-8F94-34B5-988A-8BE9EC9D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8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5C09-559C-C49F-A7F8-B37246C7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75859-B82E-856C-19A2-4DDD1F9A5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C0CFC-08CE-12A5-3DE6-5E8AED0A4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7A1D9-3CEA-B55C-2A97-1B92B51D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08B95-2512-9D5A-7B11-B100C7DC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F5A71-1F91-3EF8-7BF4-D3F2F97A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1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94BE-95E7-671F-FC8E-672DB72B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B9884-7AB3-7E9B-54C9-8F0501DA5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44727-FFF2-9B45-8DA5-892DB9A9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F0DC-EF15-69C6-A007-A1FF4D4F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96F3-16C3-C3E1-CF1A-840ABC89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6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4539C4-ACB4-0588-AE51-50F45A441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1FA87-E040-6EB9-2589-A609719CD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AEB19-7A30-1D62-9B0F-21B39C59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B415D-608D-5C5A-5DDD-63AE902A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BF0E-8A40-997C-8CD1-CF9968F2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3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D33C1C-1E35-A8F7-EBA9-370A69D2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FF06-599B-D4CB-488A-C8DE38545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1BBC8-E767-9B48-1369-975DF3383E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1E412-291F-4FB0-8C2B-B790577930C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B11CD-13B5-6268-EC52-8DA3F32F2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E4B02-3AC7-1293-D202-41226D797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03027-0733-407A-926A-230F7BC0E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636C4-E870-A75D-7EEC-CC72785D9138}"/>
              </a:ext>
            </a:extLst>
          </p:cNvPr>
          <p:cNvSpPr/>
          <p:nvPr/>
        </p:nvSpPr>
        <p:spPr>
          <a:xfrm>
            <a:off x="914400" y="1117600"/>
            <a:ext cx="762000" cy="50800"/>
          </a:xfrm>
          <a:prstGeom prst="rect">
            <a:avLst/>
          </a:prstGeom>
          <a:solidFill>
            <a:srgbClr val="3AA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B1018-C69D-23EB-4C69-D773E4CD6F15}"/>
              </a:ext>
            </a:extLst>
          </p:cNvPr>
          <p:cNvSpPr txBox="1"/>
          <p:nvPr/>
        </p:nvSpPr>
        <p:spPr>
          <a:xfrm>
            <a:off x="914400" y="1371600"/>
            <a:ext cx="1016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7FA0B8"/>
                </a:solidFill>
                <a:latin typeface="Calibri" panose="020F0502020204030204" pitchFamily="34" charset="0"/>
              </a:rPr>
              <a:t>NUWARE AI   .   INTERNSHIP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E2CA3-7884-9A49-6685-82F7CA1CEECC}"/>
              </a:ext>
            </a:extLst>
          </p:cNvPr>
          <p:cNvSpPr txBox="1"/>
          <p:nvPr/>
        </p:nvSpPr>
        <p:spPr>
          <a:xfrm>
            <a:off x="914400" y="1828800"/>
            <a:ext cx="1333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Cambria" panose="02040503050406030204" pitchFamily="18" charset="0"/>
              </a:rPr>
              <a:t>S&amp;P 500 Zero-Shot Forecasting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43193-D6BC-9A1D-4C35-50621147BE87}"/>
              </a:ext>
            </a:extLst>
          </p:cNvPr>
          <p:cNvSpPr txBox="1"/>
          <p:nvPr/>
        </p:nvSpPr>
        <p:spPr>
          <a:xfrm>
            <a:off x="914400" y="2463800"/>
            <a:ext cx="1333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600" b="1">
                <a:solidFill>
                  <a:srgbClr val="FFFFFF"/>
                </a:solidFill>
                <a:latin typeface="Cambria" panose="02040503050406030204" pitchFamily="18" charset="0"/>
              </a:rPr>
              <a:t>Moirai vs. Chronos vs. TimesFM</a:t>
            </a:r>
            <a:endParaRPr lang="en-US" sz="36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F3A9C-ADC5-EE1F-8D5E-BD7A11DA53B0}"/>
              </a:ext>
            </a:extLst>
          </p:cNvPr>
          <p:cNvSpPr txBox="1"/>
          <p:nvPr/>
        </p:nvSpPr>
        <p:spPr>
          <a:xfrm>
            <a:off x="914400" y="3225800"/>
            <a:ext cx="1333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7FA0B8"/>
                </a:solidFill>
                <a:latin typeface="Calibri" panose="020F0502020204030204" pitchFamily="34" charset="0"/>
              </a:rPr>
              <a:t>Nine checkpoints, zero fine-tuning -- a rolling backtest 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60C14-F6EF-DEC2-E2DF-28595BB7E283}"/>
              </a:ext>
            </a:extLst>
          </p:cNvPr>
          <p:cNvSpPr/>
          <p:nvPr/>
        </p:nvSpPr>
        <p:spPr>
          <a:xfrm>
            <a:off x="914400" y="4064000"/>
            <a:ext cx="2400300" cy="1270000"/>
          </a:xfrm>
          <a:prstGeom prst="rect">
            <a:avLst/>
          </a:prstGeom>
          <a:solidFill>
            <a:srgbClr val="1D3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A427B-2991-FD62-C42D-10C4D06E9A85}"/>
              </a:ext>
            </a:extLst>
          </p:cNvPr>
          <p:cNvSpPr txBox="1"/>
          <p:nvPr/>
        </p:nvSpPr>
        <p:spPr>
          <a:xfrm>
            <a:off x="1143000" y="4241800"/>
            <a:ext cx="1943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5B7D91"/>
                </a:solidFill>
                <a:latin typeface="Calibri" panose="020F0502020204030204" pitchFamily="34" charset="0"/>
              </a:rPr>
              <a:t>AUTHOR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30745-E081-24D0-A631-0B159B046CF1}"/>
              </a:ext>
            </a:extLst>
          </p:cNvPr>
          <p:cNvSpPr txBox="1"/>
          <p:nvPr/>
        </p:nvSpPr>
        <p:spPr>
          <a:xfrm>
            <a:off x="1143000" y="4521200"/>
            <a:ext cx="19431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Agrim Gupta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08AFF9-F360-53D6-BA13-31C291266F5D}"/>
              </a:ext>
            </a:extLst>
          </p:cNvPr>
          <p:cNvSpPr/>
          <p:nvPr/>
        </p:nvSpPr>
        <p:spPr>
          <a:xfrm>
            <a:off x="3568700" y="4064000"/>
            <a:ext cx="2400300" cy="1270000"/>
          </a:xfrm>
          <a:prstGeom prst="rect">
            <a:avLst/>
          </a:prstGeom>
          <a:solidFill>
            <a:srgbClr val="1D3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A19E4A-6432-66A2-9A17-00ED6C346614}"/>
              </a:ext>
            </a:extLst>
          </p:cNvPr>
          <p:cNvSpPr txBox="1"/>
          <p:nvPr/>
        </p:nvSpPr>
        <p:spPr>
          <a:xfrm>
            <a:off x="3797300" y="4241800"/>
            <a:ext cx="1943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5B7D91"/>
                </a:solidFill>
                <a:latin typeface="Calibri" panose="020F0502020204030204" pitchFamily="34" charset="0"/>
              </a:rPr>
              <a:t>MENTOR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18F75D-C124-D4D6-4EC0-A12B3E5A93DC}"/>
              </a:ext>
            </a:extLst>
          </p:cNvPr>
          <p:cNvSpPr txBox="1"/>
          <p:nvPr/>
        </p:nvSpPr>
        <p:spPr>
          <a:xfrm>
            <a:off x="3797300" y="4521200"/>
            <a:ext cx="19431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Sushant Khuntegave
Shivanshu Garg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B4E57-FF75-79F9-8EE2-49E7A0C0C6E7}"/>
              </a:ext>
            </a:extLst>
          </p:cNvPr>
          <p:cNvSpPr/>
          <p:nvPr/>
        </p:nvSpPr>
        <p:spPr>
          <a:xfrm>
            <a:off x="6223000" y="4064000"/>
            <a:ext cx="2400300" cy="1270000"/>
          </a:xfrm>
          <a:prstGeom prst="rect">
            <a:avLst/>
          </a:prstGeom>
          <a:solidFill>
            <a:srgbClr val="1D3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EA0D23-FF8E-F1AA-0F6E-040069579A2E}"/>
              </a:ext>
            </a:extLst>
          </p:cNvPr>
          <p:cNvSpPr txBox="1"/>
          <p:nvPr/>
        </p:nvSpPr>
        <p:spPr>
          <a:xfrm>
            <a:off x="6451600" y="4241800"/>
            <a:ext cx="1943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5B7D91"/>
                </a:solidFill>
                <a:latin typeface="Calibri" panose="020F0502020204030204" pitchFamily="34" charset="0"/>
              </a:rPr>
              <a:t>TOPIC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8E7B4-1913-A559-538B-F0107A483B43}"/>
              </a:ext>
            </a:extLst>
          </p:cNvPr>
          <p:cNvSpPr txBox="1"/>
          <p:nvPr/>
        </p:nvSpPr>
        <p:spPr>
          <a:xfrm>
            <a:off x="6451600" y="4521200"/>
            <a:ext cx="19431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Moirai . Chronos . TimesFM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9631F1-8D8D-6218-F817-90A6A249714D}"/>
              </a:ext>
            </a:extLst>
          </p:cNvPr>
          <p:cNvSpPr/>
          <p:nvPr/>
        </p:nvSpPr>
        <p:spPr>
          <a:xfrm>
            <a:off x="8877300" y="4064000"/>
            <a:ext cx="2400300" cy="1270000"/>
          </a:xfrm>
          <a:prstGeom prst="rect">
            <a:avLst/>
          </a:prstGeom>
          <a:solidFill>
            <a:srgbClr val="1D3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759EB-E081-371D-8AC8-5D9912D5ED20}"/>
              </a:ext>
            </a:extLst>
          </p:cNvPr>
          <p:cNvSpPr txBox="1"/>
          <p:nvPr/>
        </p:nvSpPr>
        <p:spPr>
          <a:xfrm>
            <a:off x="9105900" y="4241800"/>
            <a:ext cx="1943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5B7D91"/>
                </a:solidFill>
                <a:latin typeface="Calibri" panose="020F0502020204030204" pitchFamily="34" charset="0"/>
              </a:rPr>
              <a:t>DATE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37012A-702A-08D3-CCB8-FE4E39B3B730}"/>
              </a:ext>
            </a:extLst>
          </p:cNvPr>
          <p:cNvSpPr txBox="1"/>
          <p:nvPr/>
        </p:nvSpPr>
        <p:spPr>
          <a:xfrm>
            <a:off x="9105900" y="4521200"/>
            <a:ext cx="19431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12th August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92BBE2-3C91-9A5C-D638-E60EA7EC84CF}"/>
              </a:ext>
            </a:extLst>
          </p:cNvPr>
          <p:cNvSpPr txBox="1"/>
          <p:nvPr/>
        </p:nvSpPr>
        <p:spPr>
          <a:xfrm>
            <a:off x="914400" y="5511800"/>
            <a:ext cx="1333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5B7D91"/>
                </a:solidFill>
                <a:latin typeface="Calibri" panose="020F0502020204030204" pitchFamily="34" charset="0"/>
              </a:rPr>
              <a:t>yfinance   .   Salesforce/uni2ts   .   amazon-science/chronos-forecasting   .   google-research/timesfm</a:t>
            </a:r>
          </a:p>
        </p:txBody>
      </p:sp>
    </p:spTree>
    <p:extLst>
      <p:ext uri="{BB962C8B-B14F-4D97-AF65-F5344CB8AC3E}">
        <p14:creationId xmlns:p14="http://schemas.microsoft.com/office/powerpoint/2010/main" val="393692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8CE647-46DD-5E63-5C09-6272AFD06B20}"/>
              </a:ext>
            </a:extLst>
          </p:cNvPr>
          <p:cNvSpPr txBox="1"/>
          <p:nvPr/>
        </p:nvSpPr>
        <p:spPr>
          <a:xfrm>
            <a:off x="508000" y="4318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E2761"/>
                </a:solidFill>
                <a:latin typeface="Cambria" panose="02040503050406030204" pitchFamily="18" charset="0"/>
              </a:rPr>
              <a:t>9 Zero-Shot Checkpoints, 3 Foundation-Model Families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D00CC1-7914-D8B8-3745-A406A8B91F09}"/>
              </a:ext>
            </a:extLst>
          </p:cNvPr>
          <p:cNvSpPr/>
          <p:nvPr/>
        </p:nvSpPr>
        <p:spPr>
          <a:xfrm>
            <a:off x="508000" y="1270000"/>
            <a:ext cx="3517900" cy="444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B5D8B9-5660-2CC2-84EB-612FDC89E991}"/>
              </a:ext>
            </a:extLst>
          </p:cNvPr>
          <p:cNvSpPr/>
          <p:nvPr/>
        </p:nvSpPr>
        <p:spPr>
          <a:xfrm>
            <a:off x="787400" y="1574800"/>
            <a:ext cx="279400" cy="279400"/>
          </a:xfrm>
          <a:prstGeom prst="ellipse">
            <a:avLst/>
          </a:prstGeom>
          <a:solidFill>
            <a:srgbClr val="2A78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BEBA1-8E3E-359F-7540-5323CA2920E5}"/>
              </a:ext>
            </a:extLst>
          </p:cNvPr>
          <p:cNvSpPr txBox="1"/>
          <p:nvPr/>
        </p:nvSpPr>
        <p:spPr>
          <a:xfrm>
            <a:off x="1193800" y="1549400"/>
            <a:ext cx="26289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761"/>
                </a:solidFill>
                <a:latin typeface="Cambria" panose="02040503050406030204" pitchFamily="18" charset="0"/>
              </a:rPr>
              <a:t>Moirai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7FDE8-748A-8839-A1F9-6ED64DF8D10B}"/>
              </a:ext>
            </a:extLst>
          </p:cNvPr>
          <p:cNvSpPr txBox="1"/>
          <p:nvPr/>
        </p:nvSpPr>
        <p:spPr>
          <a:xfrm>
            <a:off x="787400" y="2235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Moirai-1.0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02993-DC6D-A193-F599-CFD3842370FF}"/>
              </a:ext>
            </a:extLst>
          </p:cNvPr>
          <p:cNvSpPr txBox="1"/>
          <p:nvPr/>
        </p:nvSpPr>
        <p:spPr>
          <a:xfrm>
            <a:off x="787400" y="2514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moirai-1.0-R-large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42B5B-98B3-3756-3DE0-DC731141B21F}"/>
              </a:ext>
            </a:extLst>
          </p:cNvPr>
          <p:cNvSpPr txBox="1"/>
          <p:nvPr/>
        </p:nvSpPr>
        <p:spPr>
          <a:xfrm>
            <a:off x="787400" y="3378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Moirai-MoE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ACBAA-5023-CF34-EDFE-09892DCC9E45}"/>
              </a:ext>
            </a:extLst>
          </p:cNvPr>
          <p:cNvSpPr txBox="1"/>
          <p:nvPr/>
        </p:nvSpPr>
        <p:spPr>
          <a:xfrm>
            <a:off x="787400" y="3657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moirai-moe-1.0-R-base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E6247-96D1-F49C-E909-4C051858EC2F}"/>
              </a:ext>
            </a:extLst>
          </p:cNvPr>
          <p:cNvSpPr txBox="1"/>
          <p:nvPr/>
        </p:nvSpPr>
        <p:spPr>
          <a:xfrm>
            <a:off x="787400" y="4521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Moirai-2.0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EF6039-80A6-AED2-E0D1-18A765FBF5DE}"/>
              </a:ext>
            </a:extLst>
          </p:cNvPr>
          <p:cNvSpPr txBox="1"/>
          <p:nvPr/>
        </p:nvSpPr>
        <p:spPr>
          <a:xfrm>
            <a:off x="787400" y="4800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moirai-2.0-R-small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92F950-CEEE-11F6-5DB0-28BE2C2EBBBE}"/>
              </a:ext>
            </a:extLst>
          </p:cNvPr>
          <p:cNvSpPr/>
          <p:nvPr/>
        </p:nvSpPr>
        <p:spPr>
          <a:xfrm>
            <a:off x="4330700" y="1270000"/>
            <a:ext cx="3517900" cy="444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E2C698-1754-8BB5-E4EC-932E14B0F9E0}"/>
              </a:ext>
            </a:extLst>
          </p:cNvPr>
          <p:cNvSpPr/>
          <p:nvPr/>
        </p:nvSpPr>
        <p:spPr>
          <a:xfrm>
            <a:off x="4610100" y="1574800"/>
            <a:ext cx="279400" cy="279400"/>
          </a:xfrm>
          <a:prstGeom prst="ellipse">
            <a:avLst/>
          </a:prstGeom>
          <a:solidFill>
            <a:srgbClr val="EB68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97D09-BD5B-F282-B1D5-A815E6C80455}"/>
              </a:ext>
            </a:extLst>
          </p:cNvPr>
          <p:cNvSpPr txBox="1"/>
          <p:nvPr/>
        </p:nvSpPr>
        <p:spPr>
          <a:xfrm>
            <a:off x="5016500" y="1549400"/>
            <a:ext cx="26289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761"/>
                </a:solidFill>
                <a:latin typeface="Cambria" panose="02040503050406030204" pitchFamily="18" charset="0"/>
              </a:rPr>
              <a:t>Chronos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A1B7F9-3447-2570-2C57-544D02DD3641}"/>
              </a:ext>
            </a:extLst>
          </p:cNvPr>
          <p:cNvSpPr txBox="1"/>
          <p:nvPr/>
        </p:nvSpPr>
        <p:spPr>
          <a:xfrm>
            <a:off x="4610100" y="2235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Chronos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DE1439-199F-7D90-C9BE-576EE9D69CE0}"/>
              </a:ext>
            </a:extLst>
          </p:cNvPr>
          <p:cNvSpPr txBox="1"/>
          <p:nvPr/>
        </p:nvSpPr>
        <p:spPr>
          <a:xfrm>
            <a:off x="4610100" y="2514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chronos-t5-large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99289-A3E8-BB13-2F1E-E80312B40156}"/>
              </a:ext>
            </a:extLst>
          </p:cNvPr>
          <p:cNvSpPr txBox="1"/>
          <p:nvPr/>
        </p:nvSpPr>
        <p:spPr>
          <a:xfrm>
            <a:off x="4610100" y="3378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Chronos-Bolt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F3FDE1-C29E-04FD-2007-66B5423125AC}"/>
              </a:ext>
            </a:extLst>
          </p:cNvPr>
          <p:cNvSpPr txBox="1"/>
          <p:nvPr/>
        </p:nvSpPr>
        <p:spPr>
          <a:xfrm>
            <a:off x="4610100" y="3657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chronos-bolt-base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2C29D-F9BF-BBC2-D8E3-3A2B94EE9659}"/>
              </a:ext>
            </a:extLst>
          </p:cNvPr>
          <p:cNvSpPr txBox="1"/>
          <p:nvPr/>
        </p:nvSpPr>
        <p:spPr>
          <a:xfrm>
            <a:off x="4610100" y="4521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Chronos-2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E05089-FD29-8D2E-4408-4E8682072A03}"/>
              </a:ext>
            </a:extLst>
          </p:cNvPr>
          <p:cNvSpPr txBox="1"/>
          <p:nvPr/>
        </p:nvSpPr>
        <p:spPr>
          <a:xfrm>
            <a:off x="4610100" y="4800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chronos-2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E289A0-AC69-3E06-6A75-8CAB2A9D1A99}"/>
              </a:ext>
            </a:extLst>
          </p:cNvPr>
          <p:cNvSpPr/>
          <p:nvPr/>
        </p:nvSpPr>
        <p:spPr>
          <a:xfrm>
            <a:off x="8153400" y="1270000"/>
            <a:ext cx="3517900" cy="4445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59A4CF-A181-77B3-74E3-38DB4AC63876}"/>
              </a:ext>
            </a:extLst>
          </p:cNvPr>
          <p:cNvSpPr/>
          <p:nvPr/>
        </p:nvSpPr>
        <p:spPr>
          <a:xfrm>
            <a:off x="8432800" y="1574800"/>
            <a:ext cx="279400" cy="279400"/>
          </a:xfrm>
          <a:prstGeom prst="ellipse">
            <a:avLst/>
          </a:prstGeom>
          <a:solidFill>
            <a:srgbClr val="1BAF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B78855-BA2E-E39D-07B9-99F529FA203B}"/>
              </a:ext>
            </a:extLst>
          </p:cNvPr>
          <p:cNvSpPr txBox="1"/>
          <p:nvPr/>
        </p:nvSpPr>
        <p:spPr>
          <a:xfrm>
            <a:off x="8839200" y="1549400"/>
            <a:ext cx="26289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761"/>
                </a:solidFill>
                <a:latin typeface="Cambria" panose="02040503050406030204" pitchFamily="18" charset="0"/>
              </a:rPr>
              <a:t>TimesFM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43472A-EB72-3142-F229-508654F0C1B3}"/>
              </a:ext>
            </a:extLst>
          </p:cNvPr>
          <p:cNvSpPr txBox="1"/>
          <p:nvPr/>
        </p:nvSpPr>
        <p:spPr>
          <a:xfrm>
            <a:off x="8432800" y="2235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TimesFM-1.0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E6CBB1-07CD-7025-A3FD-202EBE26AA4F}"/>
              </a:ext>
            </a:extLst>
          </p:cNvPr>
          <p:cNvSpPr txBox="1"/>
          <p:nvPr/>
        </p:nvSpPr>
        <p:spPr>
          <a:xfrm>
            <a:off x="8432800" y="2514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timesfm-1.0-200m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EFBF89-9AA8-84AA-3A12-DAFEE739E9CC}"/>
              </a:ext>
            </a:extLst>
          </p:cNvPr>
          <p:cNvSpPr txBox="1"/>
          <p:nvPr/>
        </p:nvSpPr>
        <p:spPr>
          <a:xfrm>
            <a:off x="8432800" y="3378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TimesFM-2.0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3F15A-A3B7-E76C-4C68-F644FD51A226}"/>
              </a:ext>
            </a:extLst>
          </p:cNvPr>
          <p:cNvSpPr txBox="1"/>
          <p:nvPr/>
        </p:nvSpPr>
        <p:spPr>
          <a:xfrm>
            <a:off x="8432800" y="3657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timesfm-2.0-500m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5CEDED-35D0-6FD3-ED1C-F3405C3AE661}"/>
              </a:ext>
            </a:extLst>
          </p:cNvPr>
          <p:cNvSpPr txBox="1"/>
          <p:nvPr/>
        </p:nvSpPr>
        <p:spPr>
          <a:xfrm>
            <a:off x="8432800" y="4521200"/>
            <a:ext cx="2959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A1A2E"/>
                </a:solidFill>
                <a:latin typeface="Calibri" panose="020F0502020204030204" pitchFamily="34" charset="0"/>
              </a:rPr>
              <a:t>TimesFM-2.5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F3ECDF-DCC0-3906-F123-E6C11695125E}"/>
              </a:ext>
            </a:extLst>
          </p:cNvPr>
          <p:cNvSpPr txBox="1"/>
          <p:nvPr/>
        </p:nvSpPr>
        <p:spPr>
          <a:xfrm>
            <a:off x="8432800" y="4800600"/>
            <a:ext cx="295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timesfm-2.5-200m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DE36D6-54EA-E543-B201-4597AC9A1E86}"/>
              </a:ext>
            </a:extLst>
          </p:cNvPr>
          <p:cNvSpPr txBox="1"/>
          <p:nvPr/>
        </p:nvSpPr>
        <p:spPr>
          <a:xfrm>
            <a:off x="508000" y="59436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One checkpoint per model version -- the largest available for that version.</a:t>
            </a:r>
          </a:p>
        </p:txBody>
      </p:sp>
    </p:spTree>
    <p:extLst>
      <p:ext uri="{BB962C8B-B14F-4D97-AF65-F5344CB8AC3E}">
        <p14:creationId xmlns:p14="http://schemas.microsoft.com/office/powerpoint/2010/main" val="331984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6EE46-CF25-6C64-AACC-80B8F9660700}"/>
              </a:ext>
            </a:extLst>
          </p:cNvPr>
          <p:cNvSpPr txBox="1"/>
          <p:nvPr/>
        </p:nvSpPr>
        <p:spPr>
          <a:xfrm>
            <a:off x="508000" y="4318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E2761"/>
                </a:solidFill>
                <a:latin typeface="Cambria" panose="02040503050406030204" pitchFamily="18" charset="0"/>
              </a:rPr>
              <a:t>One Family, Many Sizes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194E3-A207-4741-92BD-BA0692097BA8}"/>
              </a:ext>
            </a:extLst>
          </p:cNvPr>
          <p:cNvSpPr txBox="1"/>
          <p:nvPr/>
        </p:nvSpPr>
        <p:spPr>
          <a:xfrm>
            <a:off x="508000" y="10160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i="1">
                <a:solidFill>
                  <a:srgbClr val="6B7280"/>
                </a:solidFill>
                <a:latin typeface="Calibri" panose="020F0502020204030204" pitchFamily="34" charset="0"/>
              </a:rPr>
              <a:t>Illustrated with the original Chronos lineup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A25922-DE37-620E-D5D2-C4BC66BF5F6C}"/>
              </a:ext>
            </a:extLst>
          </p:cNvPr>
          <p:cNvSpPr/>
          <p:nvPr/>
        </p:nvSpPr>
        <p:spPr>
          <a:xfrm>
            <a:off x="889000" y="4445000"/>
            <a:ext cx="1397000" cy="635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5CC57-28A1-F645-6851-FAF4285D9200}"/>
              </a:ext>
            </a:extLst>
          </p:cNvPr>
          <p:cNvSpPr txBox="1"/>
          <p:nvPr/>
        </p:nvSpPr>
        <p:spPr>
          <a:xfrm>
            <a:off x="889000" y="40640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A1A2E"/>
                </a:solidFill>
                <a:latin typeface="Calibri" panose="020F0502020204030204" pitchFamily="34" charset="0"/>
              </a:rPr>
              <a:t>Tiny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A93CD-5AF0-6A43-642E-0941659024AA}"/>
              </a:ext>
            </a:extLst>
          </p:cNvPr>
          <p:cNvSpPr txBox="1"/>
          <p:nvPr/>
        </p:nvSpPr>
        <p:spPr>
          <a:xfrm>
            <a:off x="889000" y="47752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8M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E813B6-54F0-20F2-3968-6FC4CF0BDFB8}"/>
              </a:ext>
            </a:extLst>
          </p:cNvPr>
          <p:cNvSpPr/>
          <p:nvPr/>
        </p:nvSpPr>
        <p:spPr>
          <a:xfrm>
            <a:off x="2667000" y="4064000"/>
            <a:ext cx="1397000" cy="1016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81924-6777-D5A9-7009-C91A7BA68E23}"/>
              </a:ext>
            </a:extLst>
          </p:cNvPr>
          <p:cNvSpPr txBox="1"/>
          <p:nvPr/>
        </p:nvSpPr>
        <p:spPr>
          <a:xfrm>
            <a:off x="2667000" y="36830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A1A2E"/>
                </a:solidFill>
                <a:latin typeface="Calibri" panose="020F0502020204030204" pitchFamily="34" charset="0"/>
              </a:rPr>
              <a:t>Mini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2D287-2E27-7845-D3D4-E2B757BBBC86}"/>
              </a:ext>
            </a:extLst>
          </p:cNvPr>
          <p:cNvSpPr txBox="1"/>
          <p:nvPr/>
        </p:nvSpPr>
        <p:spPr>
          <a:xfrm>
            <a:off x="2667000" y="47752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20M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D9C9EE-93C5-1C38-2E4D-31090DB701FD}"/>
              </a:ext>
            </a:extLst>
          </p:cNvPr>
          <p:cNvSpPr/>
          <p:nvPr/>
        </p:nvSpPr>
        <p:spPr>
          <a:xfrm>
            <a:off x="4445000" y="3619500"/>
            <a:ext cx="1397000" cy="14605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D8F3A-2EC7-B74D-51DE-7F5275C37E4B}"/>
              </a:ext>
            </a:extLst>
          </p:cNvPr>
          <p:cNvSpPr txBox="1"/>
          <p:nvPr/>
        </p:nvSpPr>
        <p:spPr>
          <a:xfrm>
            <a:off x="4445000" y="32385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A1A2E"/>
                </a:solidFill>
                <a:latin typeface="Calibri" panose="020F0502020204030204" pitchFamily="34" charset="0"/>
              </a:rPr>
              <a:t>Small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13AA3-97A9-C21B-6828-53925FBA472C}"/>
              </a:ext>
            </a:extLst>
          </p:cNvPr>
          <p:cNvSpPr txBox="1"/>
          <p:nvPr/>
        </p:nvSpPr>
        <p:spPr>
          <a:xfrm>
            <a:off x="4445000" y="47752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46M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A66CB7-4AFB-249F-C56D-566DA0446A74}"/>
              </a:ext>
            </a:extLst>
          </p:cNvPr>
          <p:cNvSpPr/>
          <p:nvPr/>
        </p:nvSpPr>
        <p:spPr>
          <a:xfrm>
            <a:off x="6223000" y="3111500"/>
            <a:ext cx="1397000" cy="19685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BAB5C-57D4-5D8D-D90D-BFB44C7FEE4C}"/>
              </a:ext>
            </a:extLst>
          </p:cNvPr>
          <p:cNvSpPr txBox="1"/>
          <p:nvPr/>
        </p:nvSpPr>
        <p:spPr>
          <a:xfrm>
            <a:off x="6223000" y="27305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A1A2E"/>
                </a:solidFill>
                <a:latin typeface="Calibri" panose="020F0502020204030204" pitchFamily="34" charset="0"/>
              </a:rPr>
              <a:t>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2B07E-1E26-C8FC-71B1-073149E62801}"/>
              </a:ext>
            </a:extLst>
          </p:cNvPr>
          <p:cNvSpPr txBox="1"/>
          <p:nvPr/>
        </p:nvSpPr>
        <p:spPr>
          <a:xfrm>
            <a:off x="6223000" y="47752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200M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BA030D-A633-AA15-DE86-4FF91706C0E9}"/>
              </a:ext>
            </a:extLst>
          </p:cNvPr>
          <p:cNvSpPr/>
          <p:nvPr/>
        </p:nvSpPr>
        <p:spPr>
          <a:xfrm>
            <a:off x="8001000" y="2540000"/>
            <a:ext cx="1397000" cy="254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F758F-EADA-68A5-FB5D-A8305541795B}"/>
              </a:ext>
            </a:extLst>
          </p:cNvPr>
          <p:cNvSpPr txBox="1"/>
          <p:nvPr/>
        </p:nvSpPr>
        <p:spPr>
          <a:xfrm>
            <a:off x="8001000" y="21590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A1A2E"/>
                </a:solidFill>
                <a:latin typeface="Calibri" panose="020F0502020204030204" pitchFamily="34" charset="0"/>
              </a:rPr>
              <a:t>Large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74B27-95B9-61C4-AABD-9EA3B78D1224}"/>
              </a:ext>
            </a:extLst>
          </p:cNvPr>
          <p:cNvSpPr txBox="1"/>
          <p:nvPr/>
        </p:nvSpPr>
        <p:spPr>
          <a:xfrm>
            <a:off x="8001000" y="47752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</a:rPr>
              <a:t>710M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4CECC2-9BFC-2A84-1536-FF43B583A5E4}"/>
              </a:ext>
            </a:extLst>
          </p:cNvPr>
          <p:cNvSpPr txBox="1"/>
          <p:nvPr/>
        </p:nvSpPr>
        <p:spPr>
          <a:xfrm>
            <a:off x="8001000" y="51816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E2761"/>
                </a:solidFill>
                <a:latin typeface="Calibri" panose="020F0502020204030204" pitchFamily="34" charset="0"/>
              </a:rPr>
              <a:t>Used in this project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29C243-E1D2-9BE7-E2F0-7FD0C36E85CA}"/>
              </a:ext>
            </a:extLst>
          </p:cNvPr>
          <p:cNvSpPr txBox="1"/>
          <p:nvPr/>
        </p:nvSpPr>
        <p:spPr>
          <a:xfrm>
            <a:off x="508000" y="58166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Chronos-Bolt ships tiny -&gt; base (4 sizes). Chronos-2 is Amazon's newest release -- a single unified checkpoint, not size-tiered.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60B66-5750-2AE0-4916-4A8F9B74315D}"/>
              </a:ext>
            </a:extLst>
          </p:cNvPr>
          <p:cNvSpPr txBox="1"/>
          <p:nvPr/>
        </p:nvSpPr>
        <p:spPr>
          <a:xfrm>
            <a:off x="508000" y="61976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E2761"/>
                </a:solidFill>
                <a:latin typeface="Calibri" panose="020F0502020204030204" pitchFamily="34" charset="0"/>
              </a:rPr>
              <a:t>This project always uses the largest checkpoint available for each model version.</a:t>
            </a:r>
          </a:p>
        </p:txBody>
      </p:sp>
    </p:spTree>
    <p:extLst>
      <p:ext uri="{BB962C8B-B14F-4D97-AF65-F5344CB8AC3E}">
        <p14:creationId xmlns:p14="http://schemas.microsoft.com/office/powerpoint/2010/main" val="418566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850D55-0A36-2C34-2E66-132B868FAC36}"/>
              </a:ext>
            </a:extLst>
          </p:cNvPr>
          <p:cNvSpPr txBox="1"/>
          <p:nvPr/>
        </p:nvSpPr>
        <p:spPr>
          <a:xfrm>
            <a:off x="508000" y="4318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E2761"/>
                </a:solidFill>
                <a:latin typeface="Cambria" panose="02040503050406030204" pitchFamily="18" charset="0"/>
              </a:rPr>
              <a:t>The Data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7013F6-C212-C2AF-5DCF-5F2FEDF39AFC}"/>
              </a:ext>
            </a:extLst>
          </p:cNvPr>
          <p:cNvSpPr/>
          <p:nvPr/>
        </p:nvSpPr>
        <p:spPr>
          <a:xfrm>
            <a:off x="508000" y="1219200"/>
            <a:ext cx="584200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8724E-FF69-2452-AA0D-EC57600A2386}"/>
              </a:ext>
            </a:extLst>
          </p:cNvPr>
          <p:cNvSpPr txBox="1"/>
          <p:nvPr/>
        </p:nvSpPr>
        <p:spPr>
          <a:xfrm>
            <a:off x="787400" y="1397000"/>
            <a:ext cx="5283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E2761"/>
                </a:solidFill>
                <a:latin typeface="Cambria" panose="02040503050406030204" pitchFamily="18" charset="0"/>
              </a:rPr>
              <a:t>^GSPC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B20CF-6358-CF5E-DA23-88A018F290FA}"/>
              </a:ext>
            </a:extLst>
          </p:cNvPr>
          <p:cNvSpPr txBox="1"/>
          <p:nvPr/>
        </p:nvSpPr>
        <p:spPr>
          <a:xfrm>
            <a:off x="787400" y="1930400"/>
            <a:ext cx="528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A1A2E"/>
                </a:solidFill>
                <a:latin typeface="Calibri" panose="020F0502020204030204" pitchFamily="34" charset="0"/>
              </a:rPr>
              <a:t>S&amp;P 500 Close -- the forecast target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0EAFE-A77B-3ABC-6AE4-847428CC98E3}"/>
              </a:ext>
            </a:extLst>
          </p:cNvPr>
          <p:cNvSpPr txBox="1"/>
          <p:nvPr/>
        </p:nvSpPr>
        <p:spPr>
          <a:xfrm>
            <a:off x="787400" y="2209800"/>
            <a:ext cx="528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Yahoo Finance (yfinance)  .  2005-01-01 -&gt; present, refetched live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62F5C-4F5D-32D2-4319-C6F9F64F9FD5}"/>
              </a:ext>
            </a:extLst>
          </p:cNvPr>
          <p:cNvSpPr txBox="1"/>
          <p:nvPr/>
        </p:nvSpPr>
        <p:spPr>
          <a:xfrm>
            <a:off x="508000" y="2844800"/>
            <a:ext cx="584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E2761"/>
                </a:solidFill>
                <a:latin typeface="Calibri" panose="020F0502020204030204" pitchFamily="34" charset="0"/>
              </a:rPr>
              <a:t>One rolling window, end to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570C5-98AF-520F-5B3A-0DA9B33881AD}"/>
              </a:ext>
            </a:extLst>
          </p:cNvPr>
          <p:cNvSpPr txBox="1"/>
          <p:nvPr/>
        </p:nvSpPr>
        <p:spPr>
          <a:xfrm>
            <a:off x="508000" y="32258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6B7280"/>
                </a:solidFill>
                <a:latin typeface="Calibri" panose="020F0502020204030204" pitchFamily="34" charset="0"/>
              </a:rPr>
              <a:t>Context -- 512 trading days (~2 years)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5296FA-CCD0-5804-8395-005A44A08A2A}"/>
              </a:ext>
            </a:extLst>
          </p:cNvPr>
          <p:cNvSpPr/>
          <p:nvPr/>
        </p:nvSpPr>
        <p:spPr>
          <a:xfrm>
            <a:off x="508000" y="3581400"/>
            <a:ext cx="3810000" cy="38100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B7561-162E-F761-4F3E-F2DBFB20B8F6}"/>
              </a:ext>
            </a:extLst>
          </p:cNvPr>
          <p:cNvSpPr txBox="1"/>
          <p:nvPr/>
        </p:nvSpPr>
        <p:spPr>
          <a:xfrm>
            <a:off x="4394200" y="3225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EB6834"/>
                </a:solidFill>
                <a:latin typeface="Calibri" panose="020F0502020204030204" pitchFamily="34" charset="0"/>
              </a:rPr>
              <a:t>Forecast -- 5 or 21 days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67BF88-5236-C3A4-3A8C-16FB4AA1DAE5}"/>
              </a:ext>
            </a:extLst>
          </p:cNvPr>
          <p:cNvSpPr/>
          <p:nvPr/>
        </p:nvSpPr>
        <p:spPr>
          <a:xfrm>
            <a:off x="4394200" y="3581400"/>
            <a:ext cx="1397000" cy="38100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1DE92F-CE60-3145-4336-3988AC4D7134}"/>
              </a:ext>
            </a:extLst>
          </p:cNvPr>
          <p:cNvSpPr/>
          <p:nvPr/>
        </p:nvSpPr>
        <p:spPr>
          <a:xfrm>
            <a:off x="4241800" y="4064000"/>
            <a:ext cx="152400" cy="152400"/>
          </a:xfrm>
          <a:prstGeom prst="ellipse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51540-F97F-B812-B3BC-9FB0E41959D8}"/>
              </a:ext>
            </a:extLst>
          </p:cNvPr>
          <p:cNvSpPr txBox="1"/>
          <p:nvPr/>
        </p:nvSpPr>
        <p:spPr>
          <a:xfrm>
            <a:off x="3429000" y="42672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i="1">
                <a:solidFill>
                  <a:srgbClr val="6B7280"/>
                </a:solidFill>
                <a:latin typeface="Calibri" panose="020F0502020204030204" pitchFamily="34" charset="0"/>
              </a:rPr>
              <a:t>Forecast origin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EF69F-84D8-EAC0-A8C5-C8F7E9B8A149}"/>
              </a:ext>
            </a:extLst>
          </p:cNvPr>
          <p:cNvSpPr txBox="1"/>
          <p:nvPr/>
        </p:nvSpPr>
        <p:spPr>
          <a:xfrm>
            <a:off x="508000" y="4521200"/>
            <a:ext cx="584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Repeated at 60 rolling origins spanning 2005 -&gt; present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60100-7CA5-A337-3BDD-C1E2CCCB22F3}"/>
              </a:ext>
            </a:extLst>
          </p:cNvPr>
          <p:cNvSpPr txBox="1"/>
          <p:nvPr/>
        </p:nvSpPr>
        <p:spPr>
          <a:xfrm>
            <a:off x="508000" y="5029200"/>
            <a:ext cx="584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E2761"/>
                </a:solidFill>
                <a:latin typeface="Calibri" panose="020F0502020204030204" pitchFamily="34" charset="0"/>
              </a:rPr>
              <a:t>Predicted for every window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F6AE24-FE6E-D6A2-23A5-666F6157A0C5}"/>
              </a:ext>
            </a:extLst>
          </p:cNvPr>
          <p:cNvSpPr/>
          <p:nvPr/>
        </p:nvSpPr>
        <p:spPr>
          <a:xfrm>
            <a:off x="508000" y="5384800"/>
            <a:ext cx="1841500" cy="812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6220A8-103C-56D2-1A03-4D82230EBD9A}"/>
              </a:ext>
            </a:extLst>
          </p:cNvPr>
          <p:cNvSpPr/>
          <p:nvPr/>
        </p:nvSpPr>
        <p:spPr>
          <a:xfrm>
            <a:off x="685800" y="5562600"/>
            <a:ext cx="152400" cy="152400"/>
          </a:xfrm>
          <a:prstGeom prst="ellipse">
            <a:avLst/>
          </a:prstGeom>
          <a:solidFill>
            <a:srgbClr val="2A78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640E6-A799-3641-A504-56E5B0A3B718}"/>
              </a:ext>
            </a:extLst>
          </p:cNvPr>
          <p:cNvSpPr txBox="1"/>
          <p:nvPr/>
        </p:nvSpPr>
        <p:spPr>
          <a:xfrm>
            <a:off x="685800" y="5816600"/>
            <a:ext cx="1485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A1A2E"/>
                </a:solidFill>
                <a:latin typeface="Calibri" panose="020F0502020204030204" pitchFamily="34" charset="0"/>
              </a:rPr>
              <a:t>Close price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24B5DE-2D6D-84AE-FA10-C63BCD9F0584}"/>
              </a:ext>
            </a:extLst>
          </p:cNvPr>
          <p:cNvSpPr/>
          <p:nvPr/>
        </p:nvSpPr>
        <p:spPr>
          <a:xfrm>
            <a:off x="2501900" y="5384800"/>
            <a:ext cx="1841500" cy="812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A14E74-2668-A133-395A-C43EEA12ED9E}"/>
              </a:ext>
            </a:extLst>
          </p:cNvPr>
          <p:cNvSpPr/>
          <p:nvPr/>
        </p:nvSpPr>
        <p:spPr>
          <a:xfrm>
            <a:off x="2679700" y="5562600"/>
            <a:ext cx="152400" cy="152400"/>
          </a:xfrm>
          <a:prstGeom prst="ellipse">
            <a:avLst/>
          </a:prstGeom>
          <a:solidFill>
            <a:srgbClr val="EB68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3BE7C1-C281-A979-04C9-8AC4C378CD7D}"/>
              </a:ext>
            </a:extLst>
          </p:cNvPr>
          <p:cNvSpPr txBox="1"/>
          <p:nvPr/>
        </p:nvSpPr>
        <p:spPr>
          <a:xfrm>
            <a:off x="2679700" y="5816600"/>
            <a:ext cx="1485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A1A2E"/>
                </a:solidFill>
                <a:latin typeface="Calibri" panose="020F0502020204030204" pitchFamily="34" charset="0"/>
              </a:rPr>
              <a:t>Simple return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736E73-652B-CBC1-497D-59E741A91703}"/>
              </a:ext>
            </a:extLst>
          </p:cNvPr>
          <p:cNvSpPr/>
          <p:nvPr/>
        </p:nvSpPr>
        <p:spPr>
          <a:xfrm>
            <a:off x="4495800" y="5384800"/>
            <a:ext cx="1841500" cy="812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8378AF-72E6-4E6D-F55F-52D51FE49A17}"/>
              </a:ext>
            </a:extLst>
          </p:cNvPr>
          <p:cNvSpPr/>
          <p:nvPr/>
        </p:nvSpPr>
        <p:spPr>
          <a:xfrm>
            <a:off x="4673600" y="5562600"/>
            <a:ext cx="152400" cy="152400"/>
          </a:xfrm>
          <a:prstGeom prst="ellipse">
            <a:avLst/>
          </a:prstGeom>
          <a:solidFill>
            <a:srgbClr val="1BAF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90DD5-A2C1-95E0-83B0-6D6F6753400C}"/>
              </a:ext>
            </a:extLst>
          </p:cNvPr>
          <p:cNvSpPr txBox="1"/>
          <p:nvPr/>
        </p:nvSpPr>
        <p:spPr>
          <a:xfrm>
            <a:off x="4673600" y="5816600"/>
            <a:ext cx="1485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A1A2E"/>
                </a:solidFill>
                <a:latin typeface="Calibri" panose="020F0502020204030204" pitchFamily="34" charset="0"/>
              </a:rPr>
              <a:t>Log return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D5F2B02-4B67-56C8-8A9D-2EF3DA8B93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1270000"/>
            <a:ext cx="5080000" cy="4368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F0548C3-2283-B30F-EC08-DC2973B08D30}"/>
              </a:ext>
            </a:extLst>
          </p:cNvPr>
          <p:cNvSpPr txBox="1"/>
          <p:nvPr/>
        </p:nvSpPr>
        <p:spPr>
          <a:xfrm>
            <a:off x="6731000" y="5740400"/>
            <a:ext cx="508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i="1">
                <a:solidFill>
                  <a:srgbClr val="6B7280"/>
                </a:solidFill>
                <a:latin typeface="Calibri" panose="020F0502020204030204" pitchFamily="34" charset="0"/>
              </a:rPr>
              <a:t>Real example -- history (solid) into naive / zero-shot forecast</a:t>
            </a:r>
          </a:p>
        </p:txBody>
      </p:sp>
    </p:spTree>
    <p:extLst>
      <p:ext uri="{BB962C8B-B14F-4D97-AF65-F5344CB8AC3E}">
        <p14:creationId xmlns:p14="http://schemas.microsoft.com/office/powerpoint/2010/main" val="261508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75E37-2B39-ACEE-D294-EDD719B7CDB6}"/>
              </a:ext>
            </a:extLst>
          </p:cNvPr>
          <p:cNvSpPr txBox="1"/>
          <p:nvPr/>
        </p:nvSpPr>
        <p:spPr>
          <a:xfrm>
            <a:off x="508000" y="4318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E2761"/>
                </a:solidFill>
                <a:latin typeface="Cambria" panose="02040503050406030204" pitchFamily="18" charset="0"/>
              </a:rPr>
              <a:t>Backtest Design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8A154-4374-9C44-DA2E-A7F899CB1DA6}"/>
              </a:ext>
            </a:extLst>
          </p:cNvPr>
          <p:cNvSpPr/>
          <p:nvPr/>
        </p:nvSpPr>
        <p:spPr>
          <a:xfrm>
            <a:off x="508000" y="1270000"/>
            <a:ext cx="3517900" cy="1905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4B6E4-E6A0-73FC-F82A-45D23E30D1E3}"/>
              </a:ext>
            </a:extLst>
          </p:cNvPr>
          <p:cNvSpPr txBox="1"/>
          <p:nvPr/>
        </p:nvSpPr>
        <p:spPr>
          <a:xfrm>
            <a:off x="508000" y="1498600"/>
            <a:ext cx="3517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512 days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F501C-22D0-0241-7280-AFFCBE5CDF11}"/>
              </a:ext>
            </a:extLst>
          </p:cNvPr>
          <p:cNvSpPr txBox="1"/>
          <p:nvPr/>
        </p:nvSpPr>
        <p:spPr>
          <a:xfrm>
            <a:off x="685800" y="2057400"/>
            <a:ext cx="3162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Context window (~2 trading years)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A66CC6-A959-338F-25FC-88FF7327CE28}"/>
              </a:ext>
            </a:extLst>
          </p:cNvPr>
          <p:cNvSpPr/>
          <p:nvPr/>
        </p:nvSpPr>
        <p:spPr>
          <a:xfrm>
            <a:off x="4330700" y="1270000"/>
            <a:ext cx="3517900" cy="1905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F9CA9-7303-3713-D241-BD0F613DAE13}"/>
              </a:ext>
            </a:extLst>
          </p:cNvPr>
          <p:cNvSpPr txBox="1"/>
          <p:nvPr/>
        </p:nvSpPr>
        <p:spPr>
          <a:xfrm>
            <a:off x="4330700" y="1498600"/>
            <a:ext cx="3517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5 &amp; 21 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8C3629-6864-548D-BCD8-FCF73D1906C1}"/>
              </a:ext>
            </a:extLst>
          </p:cNvPr>
          <p:cNvSpPr txBox="1"/>
          <p:nvPr/>
        </p:nvSpPr>
        <p:spPr>
          <a:xfrm>
            <a:off x="4508500" y="2057400"/>
            <a:ext cx="3162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Forecast horizons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CF1EF9-FB67-9654-58ED-216FFA949784}"/>
              </a:ext>
            </a:extLst>
          </p:cNvPr>
          <p:cNvSpPr/>
          <p:nvPr/>
        </p:nvSpPr>
        <p:spPr>
          <a:xfrm>
            <a:off x="8153400" y="1270000"/>
            <a:ext cx="3517900" cy="1905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C3485-F37C-53A7-A95D-112226813734}"/>
              </a:ext>
            </a:extLst>
          </p:cNvPr>
          <p:cNvSpPr txBox="1"/>
          <p:nvPr/>
        </p:nvSpPr>
        <p:spPr>
          <a:xfrm>
            <a:off x="8153400" y="1498600"/>
            <a:ext cx="3517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60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25F5D-F573-4E08-A7DB-2101DD678BBF}"/>
              </a:ext>
            </a:extLst>
          </p:cNvPr>
          <p:cNvSpPr txBox="1"/>
          <p:nvPr/>
        </p:nvSpPr>
        <p:spPr>
          <a:xfrm>
            <a:off x="8331200" y="2057400"/>
            <a:ext cx="3162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Rolling-origin windows, 2005 -&gt; present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190F22-8026-6321-3804-67CDF47A526E}"/>
              </a:ext>
            </a:extLst>
          </p:cNvPr>
          <p:cNvSpPr/>
          <p:nvPr/>
        </p:nvSpPr>
        <p:spPr>
          <a:xfrm>
            <a:off x="508000" y="3606800"/>
            <a:ext cx="3517900" cy="1905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BFD417-0B9E-1DE0-6C47-93B8FC918E6A}"/>
              </a:ext>
            </a:extLst>
          </p:cNvPr>
          <p:cNvSpPr txBox="1"/>
          <p:nvPr/>
        </p:nvSpPr>
        <p:spPr>
          <a:xfrm>
            <a:off x="508000" y="3835400"/>
            <a:ext cx="3517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2A662-F94A-1E35-42F5-5F77220FFBBC}"/>
              </a:ext>
            </a:extLst>
          </p:cNvPr>
          <p:cNvSpPr txBox="1"/>
          <p:nvPr/>
        </p:nvSpPr>
        <p:spPr>
          <a:xfrm>
            <a:off x="685800" y="4394200"/>
            <a:ext cx="3162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Targets: price, simple return, log return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876A0D-0C8C-2C20-E44A-F587A30AFF70}"/>
              </a:ext>
            </a:extLst>
          </p:cNvPr>
          <p:cNvSpPr/>
          <p:nvPr/>
        </p:nvSpPr>
        <p:spPr>
          <a:xfrm>
            <a:off x="4330700" y="3606800"/>
            <a:ext cx="3517900" cy="1905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C1F50-A9CC-C735-1A88-D5E8E6FA8DB3}"/>
              </a:ext>
            </a:extLst>
          </p:cNvPr>
          <p:cNvSpPr txBox="1"/>
          <p:nvPr/>
        </p:nvSpPr>
        <p:spPr>
          <a:xfrm>
            <a:off x="4330700" y="3835400"/>
            <a:ext cx="3517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69624-F841-86F9-BE70-80B8DC9A6EB5}"/>
              </a:ext>
            </a:extLst>
          </p:cNvPr>
          <p:cNvSpPr txBox="1"/>
          <p:nvPr/>
        </p:nvSpPr>
        <p:spPr>
          <a:xfrm>
            <a:off x="4508500" y="4394200"/>
            <a:ext cx="3162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Quantile levels (0.1 - 0.9)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CB8387-D6E7-AE32-513B-DAF2C36D2FE7}"/>
              </a:ext>
            </a:extLst>
          </p:cNvPr>
          <p:cNvSpPr/>
          <p:nvPr/>
        </p:nvSpPr>
        <p:spPr>
          <a:xfrm>
            <a:off x="8153400" y="3606800"/>
            <a:ext cx="3517900" cy="1905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 cap="flat" cmpd="sng" algn="ctr">
            <a:noFill/>
            <a:prstDash val="solid"/>
            <a:miter lim="800000"/>
          </a:ln>
          <a:effectLst>
            <a:innerShdw blurRad="127000" dist="38100" dir="5400000">
              <a:srgbClr val="888888">
                <a:alpha val="25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43BF-8479-5D59-0BED-E57392014A90}"/>
              </a:ext>
            </a:extLst>
          </p:cNvPr>
          <p:cNvSpPr txBox="1"/>
          <p:nvPr/>
        </p:nvSpPr>
        <p:spPr>
          <a:xfrm>
            <a:off x="8153400" y="3835400"/>
            <a:ext cx="3517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7C94F4-2247-FAC6-0C69-100AABCFAB75}"/>
              </a:ext>
            </a:extLst>
          </p:cNvPr>
          <p:cNvSpPr txBox="1"/>
          <p:nvPr/>
        </p:nvSpPr>
        <p:spPr>
          <a:xfrm>
            <a:off x="8331200" y="4394200"/>
            <a:ext cx="31623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Metrics: MASE, sMAPE, WQL</a:t>
            </a:r>
          </a:p>
        </p:txBody>
      </p:sp>
    </p:spTree>
    <p:extLst>
      <p:ext uri="{BB962C8B-B14F-4D97-AF65-F5344CB8AC3E}">
        <p14:creationId xmlns:p14="http://schemas.microsoft.com/office/powerpoint/2010/main" val="272582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5BF4092-9277-5990-3A7A-167BBB4D1D7D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EB68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83435-3A37-8AD0-820A-AECDEFEAA7E5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Chronos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77CA7-1444-0731-A16A-AAEF0E50F4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8ECB7-9F71-057A-B0F5-0755868D7E40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350997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6880669-9918-DF6C-1B53-26A89A01B3DC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EB68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10546-C166-E961-92B2-C748DAFF5A8C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Chronos-2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8BB4B-C31F-C6E1-1E3C-F7CE518BDB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62E1D3-1F7F-E339-25A4-24B377F6F3E1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282887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D1990F6-43CE-6CF3-3EC8-64189B4620BD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EB68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A0A29-42A1-C75B-0AEB-E2272EA3D1C2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Chronos-Bolt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3951B-3B1C-191D-1362-3F710D81C6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8DF8AD-36A1-8CA1-C3A7-4CA8DE65E0F9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2062953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47CE92C-D5F2-4DE6-76CD-BFD2BEC6A2DF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2A78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CEC94-BE92-567F-2104-6FB1B1AAA665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Moirai-1.0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FDC14-4015-8345-D6CB-57CE4C4DE9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15E825-4E30-BD8B-46B2-728494A51CA9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330177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144F4BD-7519-3132-B4FA-5350A60B7243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2A78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36F30-C5A5-789A-E6CC-D67875DBBB13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Moirai-2.0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97B0D-11A4-B82D-FC27-485B0B5572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3CCD1-2681-9A9C-B04B-B6614363D839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1058182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BDF4AAF-C99F-A8F9-1C6F-91810F4760B9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2A78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E0C96-996C-396E-8C48-35BBFA155AE2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Moirai-MoE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A7CB7-03BF-9827-5C94-2DBC9CB4A9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66D0C2-76C4-0A5F-FDBF-40697365898B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416710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4D05124-3CDD-40FC-5854-39CDD629605D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1BAF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0257B-B674-51A7-CB17-173CB6B7806E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TimesFM-1.0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2720D-4BA1-8896-1461-BA2831B3B9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3F0880-564F-5FAB-7A2C-9C26654276F9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4253319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E67AE81-44A2-52D6-F65C-13EEC395311A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1BAF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54FEB-943A-B4FE-79FF-D2409138DF03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TimesFM-2.0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BE2E7-77A0-7BC3-9A33-D33CA8BB75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2E0D2-4158-73FD-0A97-F1C0A51B23C3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829572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85E98CB-10FA-0922-D727-5469460589FF}"/>
              </a:ext>
            </a:extLst>
          </p:cNvPr>
          <p:cNvSpPr/>
          <p:nvPr/>
        </p:nvSpPr>
        <p:spPr>
          <a:xfrm>
            <a:off x="508000" y="508000"/>
            <a:ext cx="254000" cy="254000"/>
          </a:xfrm>
          <a:prstGeom prst="ellipse">
            <a:avLst/>
          </a:prstGeom>
          <a:solidFill>
            <a:srgbClr val="1BAF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C5E8D-8A48-B9AE-A5A8-F7283D698751}"/>
              </a:ext>
            </a:extLst>
          </p:cNvPr>
          <p:cNvSpPr txBox="1"/>
          <p:nvPr/>
        </p:nvSpPr>
        <p:spPr>
          <a:xfrm>
            <a:off x="889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Example Forecast -- TimesFM-2.5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E8761-151F-B4E2-1124-0693604FE9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7D0AD3-D86F-852F-5C49-7A973E57BC7E}"/>
              </a:ext>
            </a:extLst>
          </p:cNvPr>
          <p:cNvSpPr txBox="1"/>
          <p:nvPr/>
        </p:nvSpPr>
        <p:spPr>
          <a:xfrm>
            <a:off x="508000" y="53340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History, actual, naive baseline (blue, dotted), and zero-shot forecast (orange) for Close / Return / Log return -- most recent window, 21-day horizon.</a:t>
            </a:r>
          </a:p>
        </p:txBody>
      </p:sp>
    </p:spTree>
    <p:extLst>
      <p:ext uri="{BB962C8B-B14F-4D97-AF65-F5344CB8AC3E}">
        <p14:creationId xmlns:p14="http://schemas.microsoft.com/office/powerpoint/2010/main" val="817821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83BCCE-2853-827E-93FA-08A7B3FFBA2F}"/>
              </a:ext>
            </a:extLst>
          </p:cNvPr>
          <p:cNvSpPr txBox="1"/>
          <p:nvPr/>
        </p:nvSpPr>
        <p:spPr>
          <a:xfrm>
            <a:off x="508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Accuracy vs. Forecast Horizon (MASE)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543BB-DE28-5C98-3865-B06783F9BDA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11176000" cy="304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30264-98C4-67F3-D53F-E0966223C05C}"/>
              </a:ext>
            </a:extLst>
          </p:cNvPr>
          <p:cNvSpPr txBox="1"/>
          <p:nvPr/>
        </p:nvSpPr>
        <p:spPr>
          <a:xfrm>
            <a:off x="508000" y="45466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Does accuracy fall off from 5-day to 21-day? Faceted by target; color = family, marker = version within family.</a:t>
            </a:r>
          </a:p>
        </p:txBody>
      </p:sp>
    </p:spTree>
    <p:extLst>
      <p:ext uri="{BB962C8B-B14F-4D97-AF65-F5344CB8AC3E}">
        <p14:creationId xmlns:p14="http://schemas.microsoft.com/office/powerpoint/2010/main" val="1923938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BF6C83-9395-BAF4-B876-F7E8FBDC0303}"/>
              </a:ext>
            </a:extLst>
          </p:cNvPr>
          <p:cNvSpPr txBox="1"/>
          <p:nvPr/>
        </p:nvSpPr>
        <p:spPr>
          <a:xfrm>
            <a:off x="508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Headline Comparison -- MASE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77204-E584-C9B1-0280-5CEF3BF64B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9652000" cy="482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03B463-5B5E-C9F5-B3E4-9F0A75AB97AD}"/>
              </a:ext>
            </a:extLst>
          </p:cNvPr>
          <p:cNvSpPr txBox="1"/>
          <p:nvPr/>
        </p:nvSpPr>
        <p:spPr>
          <a:xfrm>
            <a:off x="508000" y="63246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Price target, 21-day horizon, univariate variant. Dotted line marks the naive (repeat-yesterday) baseline.</a:t>
            </a:r>
          </a:p>
        </p:txBody>
      </p:sp>
    </p:spTree>
    <p:extLst>
      <p:ext uri="{BB962C8B-B14F-4D97-AF65-F5344CB8AC3E}">
        <p14:creationId xmlns:p14="http://schemas.microsoft.com/office/powerpoint/2010/main" val="426878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CCDFD-A6C6-FC1B-83F5-9FAD359FE4E6}"/>
              </a:ext>
            </a:extLst>
          </p:cNvPr>
          <p:cNvSpPr txBox="1"/>
          <p:nvPr/>
        </p:nvSpPr>
        <p:spPr>
          <a:xfrm>
            <a:off x="508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Headline Comparison -- sMAPE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AFDE5-B869-CEED-003F-F16C1E3620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9652000" cy="482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D57406-12F2-14D9-8822-E26999019D70}"/>
              </a:ext>
            </a:extLst>
          </p:cNvPr>
          <p:cNvSpPr txBox="1"/>
          <p:nvPr/>
        </p:nvSpPr>
        <p:spPr>
          <a:xfrm>
            <a:off x="508000" y="63246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Price target, 21-day horizon, univariate variant. Dotted line marks the naive (repeat-yesterday) baseline.</a:t>
            </a:r>
          </a:p>
        </p:txBody>
      </p:sp>
    </p:spTree>
    <p:extLst>
      <p:ext uri="{BB962C8B-B14F-4D97-AF65-F5344CB8AC3E}">
        <p14:creationId xmlns:p14="http://schemas.microsoft.com/office/powerpoint/2010/main" val="2616586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8566B-6DBE-8031-FE5B-E82F7BE50DA5}"/>
              </a:ext>
            </a:extLst>
          </p:cNvPr>
          <p:cNvSpPr txBox="1"/>
          <p:nvPr/>
        </p:nvSpPr>
        <p:spPr>
          <a:xfrm>
            <a:off x="508000" y="431800"/>
            <a:ext cx="1016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1E2761"/>
                </a:solidFill>
                <a:latin typeface="Cambria" panose="02040503050406030204" pitchFamily="18" charset="0"/>
              </a:rPr>
              <a:t>Headline Comparison -- WQL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04015-CD28-26F8-4D35-7B213F57AE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9652000" cy="482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FE2D73-315C-07D1-268B-687556A3FEC2}"/>
              </a:ext>
            </a:extLst>
          </p:cNvPr>
          <p:cNvSpPr txBox="1"/>
          <p:nvPr/>
        </p:nvSpPr>
        <p:spPr>
          <a:xfrm>
            <a:off x="508000" y="6324600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rgbClr val="6B7280"/>
                </a:solidFill>
                <a:latin typeface="Calibri" panose="020F0502020204030204" pitchFamily="34" charset="0"/>
              </a:rPr>
              <a:t>Price target, 21-day horizon, univariate variant. Dotted line marks the naive (repeat-yesterday) baseline.</a:t>
            </a:r>
          </a:p>
        </p:txBody>
      </p:sp>
    </p:spTree>
    <p:extLst>
      <p:ext uri="{BB962C8B-B14F-4D97-AF65-F5344CB8AC3E}">
        <p14:creationId xmlns:p14="http://schemas.microsoft.com/office/powerpoint/2010/main" val="1262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Microsoft Office PowerPoint</Application>
  <PresentationFormat>Custom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Agrim Gupta</dc:creator>
  <cp:lastModifiedBy>Agrim Gupta</cp:lastModifiedBy>
  <cp:revision>1</cp:revision>
  <dcterms:created xsi:type="dcterms:W3CDTF">2026-08-11T20:55:02Z</dcterms:created>
  <dcterms:modified xsi:type="dcterms:W3CDTF">2026-08-11T20:55:02Z</dcterms:modified>
</cp:coreProperties>
</file>