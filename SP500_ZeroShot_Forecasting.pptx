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2" d="100"/>
          <a:sy n="32" d="100"/>
        </p:scale>
        <p:origin x="11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8EDEA-7B1D-D567-211D-848F231C8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1D0419-0B16-FEBC-9416-BAEC03B58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B7FB4-30D6-AAC7-66BC-709485112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0D419-DFC6-A092-2BFA-1936D0A07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4D463B-EB0C-3F58-BA5A-0A059330B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053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BCA56-E619-0754-4463-34E172874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0F6F6-0ACB-E8D1-CD58-903705D401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DB663-C1A0-18B6-7513-0C0B7F6BA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D6135-1162-CB48-1832-EC2ECA5A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86541-DA60-6F1D-432D-69E34AF2E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31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0AA7A-50DA-1036-B4BF-3159CAC65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5FF4C9-13E2-8668-D827-6DC699372A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2BD88-F030-43AE-A379-441D2BE17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BF239-4594-B133-7021-E07579AD5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567B7-57D4-39A2-56E2-06B8E8028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537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A1A10-260A-DA2D-2EC5-0B18CEAB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FE8E6-A56A-29BC-843F-EB13F6D8AD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E30243-DC00-9615-9912-BC8D2FBB3A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01D9CE-7407-7C16-9407-8B8CB22B2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72E9CF-600A-C2EC-0E93-934DA1D6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9DAE58-4C6A-B2B9-FC11-42FCF0E26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322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1F42E-1543-79BC-9334-B579FA589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73FAA2-1AA9-5023-366E-6DBCEF9A0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EC1CD8-ABAC-153F-E0A7-A2AFD51324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3A3F36-0F5A-57D2-CDF1-6A40783DF7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15100-E45D-3724-423D-F00F184B1F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04BD18-E76C-49DC-F8E7-10EC48ADD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3989DD-F805-2084-1B97-A1246935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18CB7-5FB0-96E4-1F16-2E7DD3758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919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DDEEF-2AD0-3BE0-0BFF-25F4D6AA2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BC358E-9B34-DEBC-56CD-CDFB32D3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2583AA-7933-CB68-8273-3D80BFE10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45944-A1C7-A4E9-CD58-1D17A3F7A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9568EC-3907-D94C-DFFD-373D61E4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700604-5BFE-A740-855F-DEFA4EECC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5CF23-D891-CF7E-A097-823032D8F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560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0821-84A4-7193-A87A-1C5691983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758A9-58DB-A332-1FF5-56169CE8F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AE993B-7849-6668-8DD9-9F93F1E9D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96E9A-4007-AFDF-4BF4-0668551C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CB1108-C4A5-272A-5167-4B1B06990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4924F2-58C1-4EDB-99C5-7C9A300C1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60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23E89-6953-9077-BD4D-C368FAB96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FD567C-DA55-B1EC-DE78-70BEDD4359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91EF85-8BD7-8148-01AA-34BEAF67A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676133-A8F6-5570-ED96-1D8772E20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9F4CE-8BB3-0D44-4B87-EFF8336FC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02CD1-5368-5E7E-62E1-671E71BEB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438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545AF-1BED-4A62-6B3E-6B6E5B3C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A8586-38A5-2452-AE5D-DD123EDB78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DB918-026C-D070-511B-EE743D925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3B1EC-FDB6-F649-9936-91305DF5E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FE30D-8C72-D0EF-E8F1-7C4667941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8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80B1F7-4624-BFC5-0652-3AE7C7BF48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51FEE6-E712-7C06-55D3-BDD456D2D0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9BA41-EE79-8587-DA44-B3DED72B6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00D81-4DA6-A02E-09C0-D4A2B74FF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84B2F-CA2E-F963-48F4-59A7C5E66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686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F805DD-7C64-9F43-BF5E-4F7A3AA23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F8A4FB-B3E7-C046-0E35-35B702D7D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AD36-579F-83DE-7C60-0C3FE41B68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DDDB3-BC58-4304-9EBF-FF12BD3CC5C5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C55AA-6BA7-ED71-9489-76DF3E7FEE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35E95-E97A-BA0B-2955-4D25F62E2C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30C0DE-0749-4A80-8A4F-60FDA69401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275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899329-DD3F-77E5-0730-43616F8A8BEB}"/>
              </a:ext>
            </a:extLst>
          </p:cNvPr>
          <p:cNvSpPr txBox="1"/>
          <p:nvPr/>
        </p:nvSpPr>
        <p:spPr>
          <a:xfrm>
            <a:off x="762000" y="2540000"/>
            <a:ext cx="10668000" cy="61555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000" b="1">
                <a:solidFill>
                  <a:srgbClr val="FFFFFF"/>
                </a:solidFill>
                <a:latin typeface="Cambria" panose="02040503050406030204" pitchFamily="18" charset="0"/>
              </a:rPr>
              <a:t>S&amp;P 500 Zero-Shot Forecasting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038A7-CA0D-212D-1AE8-66DFF7FCB8D6}"/>
              </a:ext>
            </a:extLst>
          </p:cNvPr>
          <p:cNvSpPr txBox="1"/>
          <p:nvPr/>
        </p:nvSpPr>
        <p:spPr>
          <a:xfrm>
            <a:off x="762000" y="3403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>
                <a:solidFill>
                  <a:srgbClr val="CADCFC"/>
                </a:solidFill>
                <a:latin typeface="Calibri" panose="020F0502020204030204" pitchFamily="34" charset="0"/>
              </a:rPr>
              <a:t>Moirai  .  Chronos  .  TimesFM  --  9 Checkpoints, Zero Fine-Tuning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B61501-C23B-3239-ABE1-4AA8E9B5860B}"/>
              </a:ext>
            </a:extLst>
          </p:cNvPr>
          <p:cNvSpPr/>
          <p:nvPr/>
        </p:nvSpPr>
        <p:spPr>
          <a:xfrm>
            <a:off x="762000" y="4191000"/>
            <a:ext cx="152400" cy="152400"/>
          </a:xfrm>
          <a:prstGeom prst="ellipse">
            <a:avLst/>
          </a:prstGeom>
          <a:solidFill>
            <a:srgbClr val="2A78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D40C7C1-1322-07B2-FE4F-99E86CBB402B}"/>
              </a:ext>
            </a:extLst>
          </p:cNvPr>
          <p:cNvSpPr/>
          <p:nvPr/>
        </p:nvSpPr>
        <p:spPr>
          <a:xfrm>
            <a:off x="1041400" y="4191000"/>
            <a:ext cx="152400" cy="152400"/>
          </a:xfrm>
          <a:prstGeom prst="ellipse">
            <a:avLst/>
          </a:prstGeom>
          <a:solidFill>
            <a:srgbClr val="EB68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536A835-CF3B-6A00-E62E-5B6CF718D2CF}"/>
              </a:ext>
            </a:extLst>
          </p:cNvPr>
          <p:cNvSpPr/>
          <p:nvPr/>
        </p:nvSpPr>
        <p:spPr>
          <a:xfrm>
            <a:off x="1320800" y="4191000"/>
            <a:ext cx="152400" cy="152400"/>
          </a:xfrm>
          <a:prstGeom prst="ellipse">
            <a:avLst/>
          </a:prstGeom>
          <a:solidFill>
            <a:srgbClr val="1BAF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2BA7FE-839C-0C4D-4D51-33C8AD71B5FC}"/>
              </a:ext>
            </a:extLst>
          </p:cNvPr>
          <p:cNvSpPr txBox="1"/>
          <p:nvPr/>
        </p:nvSpPr>
        <p:spPr>
          <a:xfrm>
            <a:off x="762000" y="5080000"/>
            <a:ext cx="10668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i="1">
                <a:solidFill>
                  <a:srgbClr val="CADCFC"/>
                </a:solidFill>
                <a:latin typeface="Calibri" panose="020F0502020204030204" pitchFamily="34" charset="0"/>
              </a:rPr>
              <a:t>Rolling backtest, 2005 to present   |   MASE . sMAPE . WQL</a:t>
            </a:r>
          </a:p>
        </p:txBody>
      </p:sp>
    </p:spTree>
    <p:extLst>
      <p:ext uri="{BB962C8B-B14F-4D97-AF65-F5344CB8AC3E}">
        <p14:creationId xmlns:p14="http://schemas.microsoft.com/office/powerpoint/2010/main" val="3403295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7A47E-F159-8F10-A72F-15ADC7706DA4}"/>
              </a:ext>
            </a:extLst>
          </p:cNvPr>
          <p:cNvSpPr txBox="1"/>
          <p:nvPr/>
        </p:nvSpPr>
        <p:spPr>
          <a:xfrm>
            <a:off x="508000" y="431800"/>
            <a:ext cx="11176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1E2761"/>
                </a:solidFill>
                <a:latin typeface="Cambria" panose="02040503050406030204" pitchFamily="18" charset="0"/>
              </a:rPr>
              <a:t>9 Zero-Shot Checkpoints, 3 Foundation-Model Families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825F1D-01C6-4FCB-386B-4182D9C4518E}"/>
              </a:ext>
            </a:extLst>
          </p:cNvPr>
          <p:cNvSpPr/>
          <p:nvPr/>
        </p:nvSpPr>
        <p:spPr>
          <a:xfrm>
            <a:off x="508000" y="1270000"/>
            <a:ext cx="3517900" cy="444500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F1ADFEA-219F-7882-4DC7-0345CF378176}"/>
              </a:ext>
            </a:extLst>
          </p:cNvPr>
          <p:cNvSpPr/>
          <p:nvPr/>
        </p:nvSpPr>
        <p:spPr>
          <a:xfrm>
            <a:off x="787400" y="1574800"/>
            <a:ext cx="279400" cy="279400"/>
          </a:xfrm>
          <a:prstGeom prst="ellipse">
            <a:avLst/>
          </a:prstGeom>
          <a:solidFill>
            <a:srgbClr val="2A78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D60695-5294-FFAA-8D50-864818FAEA37}"/>
              </a:ext>
            </a:extLst>
          </p:cNvPr>
          <p:cNvSpPr txBox="1"/>
          <p:nvPr/>
        </p:nvSpPr>
        <p:spPr>
          <a:xfrm>
            <a:off x="1193800" y="1549400"/>
            <a:ext cx="26289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E2761"/>
                </a:solidFill>
                <a:latin typeface="Cambria" panose="02040503050406030204" pitchFamily="18" charset="0"/>
              </a:rPr>
              <a:t>Moirai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899039-4C84-3E9B-61EF-84C54E9DE391}"/>
              </a:ext>
            </a:extLst>
          </p:cNvPr>
          <p:cNvSpPr txBox="1"/>
          <p:nvPr/>
        </p:nvSpPr>
        <p:spPr>
          <a:xfrm>
            <a:off x="787400" y="2235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Moirai-1.0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C1A1-31D4-BBF8-2E8B-E785F55F4792}"/>
              </a:ext>
            </a:extLst>
          </p:cNvPr>
          <p:cNvSpPr txBox="1"/>
          <p:nvPr/>
        </p:nvSpPr>
        <p:spPr>
          <a:xfrm>
            <a:off x="787400" y="2514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moirai-1.0-R-large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2F86C7-0F92-8F17-CC1D-AC0B31ADD59A}"/>
              </a:ext>
            </a:extLst>
          </p:cNvPr>
          <p:cNvSpPr txBox="1"/>
          <p:nvPr/>
        </p:nvSpPr>
        <p:spPr>
          <a:xfrm>
            <a:off x="787400" y="3378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Moirai-MoE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8D560D-CB75-6DFF-B4D7-057A72C8B3AF}"/>
              </a:ext>
            </a:extLst>
          </p:cNvPr>
          <p:cNvSpPr txBox="1"/>
          <p:nvPr/>
        </p:nvSpPr>
        <p:spPr>
          <a:xfrm>
            <a:off x="787400" y="3657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moirai-moe-1.0-R-base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62D5F9-B7D8-025F-7F8E-5622B36F48E9}"/>
              </a:ext>
            </a:extLst>
          </p:cNvPr>
          <p:cNvSpPr txBox="1"/>
          <p:nvPr/>
        </p:nvSpPr>
        <p:spPr>
          <a:xfrm>
            <a:off x="787400" y="4521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Moirai-2.0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2C8123-6B7C-1D95-78AD-520D605FCDDE}"/>
              </a:ext>
            </a:extLst>
          </p:cNvPr>
          <p:cNvSpPr txBox="1"/>
          <p:nvPr/>
        </p:nvSpPr>
        <p:spPr>
          <a:xfrm>
            <a:off x="787400" y="4800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moirai-2.0-R-small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B871C3-9C20-1467-DEC1-4E395EB19655}"/>
              </a:ext>
            </a:extLst>
          </p:cNvPr>
          <p:cNvSpPr/>
          <p:nvPr/>
        </p:nvSpPr>
        <p:spPr>
          <a:xfrm>
            <a:off x="4330700" y="1270000"/>
            <a:ext cx="3517900" cy="444500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99E05C4-B523-9909-EB2A-DC16667ED5FB}"/>
              </a:ext>
            </a:extLst>
          </p:cNvPr>
          <p:cNvSpPr/>
          <p:nvPr/>
        </p:nvSpPr>
        <p:spPr>
          <a:xfrm>
            <a:off x="4610100" y="1574800"/>
            <a:ext cx="279400" cy="279400"/>
          </a:xfrm>
          <a:prstGeom prst="ellipse">
            <a:avLst/>
          </a:prstGeom>
          <a:solidFill>
            <a:srgbClr val="EB68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FCEE9C-F114-B5CD-52B7-D316777BB4E9}"/>
              </a:ext>
            </a:extLst>
          </p:cNvPr>
          <p:cNvSpPr txBox="1"/>
          <p:nvPr/>
        </p:nvSpPr>
        <p:spPr>
          <a:xfrm>
            <a:off x="5016500" y="1549400"/>
            <a:ext cx="26289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E2761"/>
                </a:solidFill>
                <a:latin typeface="Cambria" panose="02040503050406030204" pitchFamily="18" charset="0"/>
              </a:rPr>
              <a:t>Chronos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5F7D52-B2BF-7AAB-EFF4-2F9695A09AD8}"/>
              </a:ext>
            </a:extLst>
          </p:cNvPr>
          <p:cNvSpPr txBox="1"/>
          <p:nvPr/>
        </p:nvSpPr>
        <p:spPr>
          <a:xfrm>
            <a:off x="4610100" y="2235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Chronos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89E7B6-0E3A-2BD2-02B4-5164197098CF}"/>
              </a:ext>
            </a:extLst>
          </p:cNvPr>
          <p:cNvSpPr txBox="1"/>
          <p:nvPr/>
        </p:nvSpPr>
        <p:spPr>
          <a:xfrm>
            <a:off x="4610100" y="2514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chronos-t5-large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384FE-BA33-01D2-33AB-FE6A75C276D5}"/>
              </a:ext>
            </a:extLst>
          </p:cNvPr>
          <p:cNvSpPr txBox="1"/>
          <p:nvPr/>
        </p:nvSpPr>
        <p:spPr>
          <a:xfrm>
            <a:off x="4610100" y="3378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Chronos-Bolt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519B84-2D7B-EE00-747A-23D7123E97D6}"/>
              </a:ext>
            </a:extLst>
          </p:cNvPr>
          <p:cNvSpPr txBox="1"/>
          <p:nvPr/>
        </p:nvSpPr>
        <p:spPr>
          <a:xfrm>
            <a:off x="4610100" y="3657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chronos-bolt-base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18DC6-0379-C4AF-B72A-E2A9FD75C35B}"/>
              </a:ext>
            </a:extLst>
          </p:cNvPr>
          <p:cNvSpPr txBox="1"/>
          <p:nvPr/>
        </p:nvSpPr>
        <p:spPr>
          <a:xfrm>
            <a:off x="4610100" y="4521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Chronos-2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A4F374-6740-7FAE-CF6D-06981424E1CA}"/>
              </a:ext>
            </a:extLst>
          </p:cNvPr>
          <p:cNvSpPr txBox="1"/>
          <p:nvPr/>
        </p:nvSpPr>
        <p:spPr>
          <a:xfrm>
            <a:off x="4610100" y="4800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chronos-2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A726401-3638-4EC9-3DF3-B46DB09E0682}"/>
              </a:ext>
            </a:extLst>
          </p:cNvPr>
          <p:cNvSpPr/>
          <p:nvPr/>
        </p:nvSpPr>
        <p:spPr>
          <a:xfrm>
            <a:off x="8153400" y="1270000"/>
            <a:ext cx="3517900" cy="4445000"/>
          </a:xfrm>
          <a:prstGeom prst="roundRect">
            <a:avLst>
              <a:gd name="adj" fmla="val 6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214D069-1050-326D-84A7-46F1B87F91AF}"/>
              </a:ext>
            </a:extLst>
          </p:cNvPr>
          <p:cNvSpPr/>
          <p:nvPr/>
        </p:nvSpPr>
        <p:spPr>
          <a:xfrm>
            <a:off x="8432800" y="1574800"/>
            <a:ext cx="279400" cy="279400"/>
          </a:xfrm>
          <a:prstGeom prst="ellipse">
            <a:avLst/>
          </a:prstGeom>
          <a:solidFill>
            <a:srgbClr val="1BAF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F295E3-A173-99B1-F79F-90BA5930425E}"/>
              </a:ext>
            </a:extLst>
          </p:cNvPr>
          <p:cNvSpPr txBox="1"/>
          <p:nvPr/>
        </p:nvSpPr>
        <p:spPr>
          <a:xfrm>
            <a:off x="8839200" y="1549400"/>
            <a:ext cx="26289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>
                <a:solidFill>
                  <a:srgbClr val="1E2761"/>
                </a:solidFill>
                <a:latin typeface="Cambria" panose="02040503050406030204" pitchFamily="18" charset="0"/>
              </a:rPr>
              <a:t>TimesFM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820FE3-F5DE-5763-85D2-BE52336BB676}"/>
              </a:ext>
            </a:extLst>
          </p:cNvPr>
          <p:cNvSpPr txBox="1"/>
          <p:nvPr/>
        </p:nvSpPr>
        <p:spPr>
          <a:xfrm>
            <a:off x="8432800" y="2235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TimesFM-1.0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B7B59F-00A7-0F40-320C-9789E99C1CDF}"/>
              </a:ext>
            </a:extLst>
          </p:cNvPr>
          <p:cNvSpPr txBox="1"/>
          <p:nvPr/>
        </p:nvSpPr>
        <p:spPr>
          <a:xfrm>
            <a:off x="8432800" y="2514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timesfm-1.0-200m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2087CE-CD44-0EFB-1E2E-6571EEB48851}"/>
              </a:ext>
            </a:extLst>
          </p:cNvPr>
          <p:cNvSpPr txBox="1"/>
          <p:nvPr/>
        </p:nvSpPr>
        <p:spPr>
          <a:xfrm>
            <a:off x="8432800" y="3378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TimesFM-2.0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27EC47-0044-BA19-6737-8C0632A54F9B}"/>
              </a:ext>
            </a:extLst>
          </p:cNvPr>
          <p:cNvSpPr txBox="1"/>
          <p:nvPr/>
        </p:nvSpPr>
        <p:spPr>
          <a:xfrm>
            <a:off x="8432800" y="3657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timesfm-2.0-500m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111695-EF97-3CE3-7D92-8D59F5654958}"/>
              </a:ext>
            </a:extLst>
          </p:cNvPr>
          <p:cNvSpPr txBox="1"/>
          <p:nvPr/>
        </p:nvSpPr>
        <p:spPr>
          <a:xfrm>
            <a:off x="8432800" y="4521200"/>
            <a:ext cx="29591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A1A2E"/>
                </a:solidFill>
                <a:latin typeface="Calibri" panose="020F0502020204030204" pitchFamily="34" charset="0"/>
              </a:rPr>
              <a:t>TimesFM-2.5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256011-9F9E-A55C-EE8E-D45010877F3D}"/>
              </a:ext>
            </a:extLst>
          </p:cNvPr>
          <p:cNvSpPr txBox="1"/>
          <p:nvPr/>
        </p:nvSpPr>
        <p:spPr>
          <a:xfrm>
            <a:off x="8432800" y="4800600"/>
            <a:ext cx="29591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00" i="1">
                <a:solidFill>
                  <a:srgbClr val="6B7280"/>
                </a:solidFill>
                <a:latin typeface="Calibri" panose="020F0502020204030204" pitchFamily="34" charset="0"/>
              </a:rPr>
              <a:t>timesfm-2.5-200m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82582A-FDB6-7178-081B-6D88C53E8BFE}"/>
              </a:ext>
            </a:extLst>
          </p:cNvPr>
          <p:cNvSpPr txBox="1"/>
          <p:nvPr/>
        </p:nvSpPr>
        <p:spPr>
          <a:xfrm>
            <a:off x="508000" y="59436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One checkpoint per model version -- the largest available for that version.</a:t>
            </a:r>
          </a:p>
        </p:txBody>
      </p:sp>
    </p:spTree>
    <p:extLst>
      <p:ext uri="{BB962C8B-B14F-4D97-AF65-F5344CB8AC3E}">
        <p14:creationId xmlns:p14="http://schemas.microsoft.com/office/powerpoint/2010/main" val="3097225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16660-E422-843B-5625-78C6354D49C6}"/>
              </a:ext>
            </a:extLst>
          </p:cNvPr>
          <p:cNvSpPr txBox="1"/>
          <p:nvPr/>
        </p:nvSpPr>
        <p:spPr>
          <a:xfrm>
            <a:off x="508000" y="431800"/>
            <a:ext cx="11176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1E2761"/>
                </a:solidFill>
                <a:latin typeface="Cambria" panose="02040503050406030204" pitchFamily="18" charset="0"/>
              </a:rPr>
              <a:t>One Family, Many Sizes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75D81C-1409-8C28-2964-4B9EFE177DEB}"/>
              </a:ext>
            </a:extLst>
          </p:cNvPr>
          <p:cNvSpPr txBox="1"/>
          <p:nvPr/>
        </p:nvSpPr>
        <p:spPr>
          <a:xfrm>
            <a:off x="508000" y="1016000"/>
            <a:ext cx="11176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i="1">
                <a:solidFill>
                  <a:srgbClr val="6B7280"/>
                </a:solidFill>
                <a:latin typeface="Calibri" panose="020F0502020204030204" pitchFamily="34" charset="0"/>
              </a:rPr>
              <a:t>Illustrated with the original Chronos lineup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A5681CE-AA30-33AE-29BB-0446B6324D4A}"/>
              </a:ext>
            </a:extLst>
          </p:cNvPr>
          <p:cNvSpPr/>
          <p:nvPr/>
        </p:nvSpPr>
        <p:spPr>
          <a:xfrm>
            <a:off x="889000" y="4445000"/>
            <a:ext cx="1397000" cy="635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441BA-9021-6D19-5A4B-89B20BA91F5E}"/>
              </a:ext>
            </a:extLst>
          </p:cNvPr>
          <p:cNvSpPr txBox="1"/>
          <p:nvPr/>
        </p:nvSpPr>
        <p:spPr>
          <a:xfrm>
            <a:off x="889000" y="4064000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Tiny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537C7-01E3-7FDD-8DB1-6D4D12A7BB81}"/>
              </a:ext>
            </a:extLst>
          </p:cNvPr>
          <p:cNvSpPr txBox="1"/>
          <p:nvPr/>
        </p:nvSpPr>
        <p:spPr>
          <a:xfrm>
            <a:off x="889000" y="4775200"/>
            <a:ext cx="1397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8M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99FA604-2A98-290B-26D0-8CE920D6C6F5}"/>
              </a:ext>
            </a:extLst>
          </p:cNvPr>
          <p:cNvSpPr/>
          <p:nvPr/>
        </p:nvSpPr>
        <p:spPr>
          <a:xfrm>
            <a:off x="2667000" y="4064000"/>
            <a:ext cx="1397000" cy="10160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093E91-DEFB-1A8D-E7C1-3AE3C7957B5E}"/>
              </a:ext>
            </a:extLst>
          </p:cNvPr>
          <p:cNvSpPr txBox="1"/>
          <p:nvPr/>
        </p:nvSpPr>
        <p:spPr>
          <a:xfrm>
            <a:off x="2667000" y="3683000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Mini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0499-9541-52E1-BD05-722D758335E9}"/>
              </a:ext>
            </a:extLst>
          </p:cNvPr>
          <p:cNvSpPr txBox="1"/>
          <p:nvPr/>
        </p:nvSpPr>
        <p:spPr>
          <a:xfrm>
            <a:off x="2667000" y="4775200"/>
            <a:ext cx="1397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20M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C4450F-B7EE-4139-44F3-7CC84623AECB}"/>
              </a:ext>
            </a:extLst>
          </p:cNvPr>
          <p:cNvSpPr/>
          <p:nvPr/>
        </p:nvSpPr>
        <p:spPr>
          <a:xfrm>
            <a:off x="4445000" y="3619500"/>
            <a:ext cx="1397000" cy="14605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83A892-DEA5-03E7-8233-725702A823C6}"/>
              </a:ext>
            </a:extLst>
          </p:cNvPr>
          <p:cNvSpPr txBox="1"/>
          <p:nvPr/>
        </p:nvSpPr>
        <p:spPr>
          <a:xfrm>
            <a:off x="4445000" y="3238500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Small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045CA7-0249-A73C-6B94-78EA6B3816A5}"/>
              </a:ext>
            </a:extLst>
          </p:cNvPr>
          <p:cNvSpPr txBox="1"/>
          <p:nvPr/>
        </p:nvSpPr>
        <p:spPr>
          <a:xfrm>
            <a:off x="4445000" y="4775200"/>
            <a:ext cx="1397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46M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78E268C-3C59-FA38-44C9-AC6E8F5E179E}"/>
              </a:ext>
            </a:extLst>
          </p:cNvPr>
          <p:cNvSpPr/>
          <p:nvPr/>
        </p:nvSpPr>
        <p:spPr>
          <a:xfrm>
            <a:off x="6223000" y="3111500"/>
            <a:ext cx="1397000" cy="1968500"/>
          </a:xfrm>
          <a:prstGeom prst="roundRect">
            <a:avLst>
              <a:gd name="adj" fmla="val 8000"/>
            </a:avLst>
          </a:prstGeom>
          <a:solidFill>
            <a:srgbClr val="CADC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7597FA-F9B8-E702-8FAF-2923AE60F5A2}"/>
              </a:ext>
            </a:extLst>
          </p:cNvPr>
          <p:cNvSpPr txBox="1"/>
          <p:nvPr/>
        </p:nvSpPr>
        <p:spPr>
          <a:xfrm>
            <a:off x="6223000" y="2730500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94DC8F-330A-0131-AC52-A4B1B050EB69}"/>
              </a:ext>
            </a:extLst>
          </p:cNvPr>
          <p:cNvSpPr txBox="1"/>
          <p:nvPr/>
        </p:nvSpPr>
        <p:spPr>
          <a:xfrm>
            <a:off x="6223000" y="4775200"/>
            <a:ext cx="1397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200M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AB8275C-68C0-F9F7-69DE-A8F5A9659920}"/>
              </a:ext>
            </a:extLst>
          </p:cNvPr>
          <p:cNvSpPr/>
          <p:nvPr/>
        </p:nvSpPr>
        <p:spPr>
          <a:xfrm>
            <a:off x="8001000" y="2540000"/>
            <a:ext cx="1397000" cy="2540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DBA511-4CAE-A200-5098-895DC93AAF71}"/>
              </a:ext>
            </a:extLst>
          </p:cNvPr>
          <p:cNvSpPr txBox="1"/>
          <p:nvPr/>
        </p:nvSpPr>
        <p:spPr>
          <a:xfrm>
            <a:off x="8001000" y="2159000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Large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57D170-3525-5B26-58CC-10D1E8BDAB60}"/>
              </a:ext>
            </a:extLst>
          </p:cNvPr>
          <p:cNvSpPr txBox="1"/>
          <p:nvPr/>
        </p:nvSpPr>
        <p:spPr>
          <a:xfrm>
            <a:off x="8001000" y="4775200"/>
            <a:ext cx="1397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FFFFFF"/>
                </a:solidFill>
                <a:latin typeface="Calibri" panose="020F0502020204030204" pitchFamily="34" charset="0"/>
              </a:rPr>
              <a:t>710M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8A591-6677-C782-84AC-BDD73435A0F3}"/>
              </a:ext>
            </a:extLst>
          </p:cNvPr>
          <p:cNvSpPr txBox="1"/>
          <p:nvPr/>
        </p:nvSpPr>
        <p:spPr>
          <a:xfrm>
            <a:off x="8001000" y="5181600"/>
            <a:ext cx="1397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100" b="1">
                <a:solidFill>
                  <a:srgbClr val="1E2761"/>
                </a:solidFill>
                <a:latin typeface="Calibri" panose="020F0502020204030204" pitchFamily="34" charset="0"/>
              </a:rPr>
              <a:t>Used in this project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F53B1E-DD71-16BD-7BAD-B14F3AE342D9}"/>
              </a:ext>
            </a:extLst>
          </p:cNvPr>
          <p:cNvSpPr txBox="1"/>
          <p:nvPr/>
        </p:nvSpPr>
        <p:spPr>
          <a:xfrm>
            <a:off x="508000" y="58166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Chronos-Bolt ships tiny -&gt; base (4 sizes). Chronos-2 is Amazon's newest release -- a single unified checkpoint, not size-tiered.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301A95-84C7-8E26-96F7-71543E92688F}"/>
              </a:ext>
            </a:extLst>
          </p:cNvPr>
          <p:cNvSpPr txBox="1"/>
          <p:nvPr/>
        </p:nvSpPr>
        <p:spPr>
          <a:xfrm>
            <a:off x="508000" y="6197600"/>
            <a:ext cx="11176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 panose="020F0502020204030204" pitchFamily="34" charset="0"/>
              </a:rPr>
              <a:t>This project always uses the largest checkpoint available for each model version.</a:t>
            </a:r>
          </a:p>
        </p:txBody>
      </p:sp>
    </p:spTree>
    <p:extLst>
      <p:ext uri="{BB962C8B-B14F-4D97-AF65-F5344CB8AC3E}">
        <p14:creationId xmlns:p14="http://schemas.microsoft.com/office/powerpoint/2010/main" val="241408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9D817F-7CE8-39A0-62C5-F8B5A68B3172}"/>
              </a:ext>
            </a:extLst>
          </p:cNvPr>
          <p:cNvSpPr txBox="1"/>
          <p:nvPr/>
        </p:nvSpPr>
        <p:spPr>
          <a:xfrm>
            <a:off x="508000" y="431800"/>
            <a:ext cx="11176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1E2761"/>
                </a:solidFill>
                <a:latin typeface="Cambria" panose="02040503050406030204" pitchFamily="18" charset="0"/>
              </a:rPr>
              <a:t>The Data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6E7F5C-C624-1C82-1794-A00952BA6BBA}"/>
              </a:ext>
            </a:extLst>
          </p:cNvPr>
          <p:cNvSpPr/>
          <p:nvPr/>
        </p:nvSpPr>
        <p:spPr>
          <a:xfrm>
            <a:off x="508000" y="1397000"/>
            <a:ext cx="3517900" cy="2159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7AFD2-B4A1-4B72-CBC4-E10C98EDFD26}"/>
              </a:ext>
            </a:extLst>
          </p:cNvPr>
          <p:cNvSpPr txBox="1"/>
          <p:nvPr/>
        </p:nvSpPr>
        <p:spPr>
          <a:xfrm>
            <a:off x="762000" y="1676400"/>
            <a:ext cx="30099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^GSPC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B63E0-604F-CD85-316C-D916055235FB}"/>
              </a:ext>
            </a:extLst>
          </p:cNvPr>
          <p:cNvSpPr txBox="1"/>
          <p:nvPr/>
        </p:nvSpPr>
        <p:spPr>
          <a:xfrm>
            <a:off x="762000" y="2311400"/>
            <a:ext cx="30099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S&amp;P 500 Close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59D62E-75BE-CFBE-0B27-46F1B71A58B8}"/>
              </a:ext>
            </a:extLst>
          </p:cNvPr>
          <p:cNvSpPr txBox="1"/>
          <p:nvPr/>
        </p:nvSpPr>
        <p:spPr>
          <a:xfrm>
            <a:off x="762000" y="2667000"/>
            <a:ext cx="30099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Forecast target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5D31D99-1638-0F2A-EDEE-5ED78CD68832}"/>
              </a:ext>
            </a:extLst>
          </p:cNvPr>
          <p:cNvSpPr/>
          <p:nvPr/>
        </p:nvSpPr>
        <p:spPr>
          <a:xfrm>
            <a:off x="4330700" y="1397000"/>
            <a:ext cx="3517900" cy="2159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A68FA7-211A-371A-3F83-A79C93EC2C15}"/>
              </a:ext>
            </a:extLst>
          </p:cNvPr>
          <p:cNvSpPr txBox="1"/>
          <p:nvPr/>
        </p:nvSpPr>
        <p:spPr>
          <a:xfrm>
            <a:off x="4584700" y="1676400"/>
            <a:ext cx="30099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^VIX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47D1A1-7A33-082B-743D-DBEDA95CBB62}"/>
              </a:ext>
            </a:extLst>
          </p:cNvPr>
          <p:cNvSpPr txBox="1"/>
          <p:nvPr/>
        </p:nvSpPr>
        <p:spPr>
          <a:xfrm>
            <a:off x="4584700" y="2311400"/>
            <a:ext cx="30099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CBOE Volatility Index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285624-5A9A-DA35-FC33-6CABB0810927}"/>
              </a:ext>
            </a:extLst>
          </p:cNvPr>
          <p:cNvSpPr txBox="1"/>
          <p:nvPr/>
        </p:nvSpPr>
        <p:spPr>
          <a:xfrm>
            <a:off x="4584700" y="2667000"/>
            <a:ext cx="30099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Covariate (past-only)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31FE4AD-8CD4-34F6-FE2E-87CB8BC68557}"/>
              </a:ext>
            </a:extLst>
          </p:cNvPr>
          <p:cNvSpPr/>
          <p:nvPr/>
        </p:nvSpPr>
        <p:spPr>
          <a:xfrm>
            <a:off x="8153400" y="1397000"/>
            <a:ext cx="3517900" cy="2159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FA58AD-AF8D-FF44-DC74-35D6F7A2608B}"/>
              </a:ext>
            </a:extLst>
          </p:cNvPr>
          <p:cNvSpPr txBox="1"/>
          <p:nvPr/>
        </p:nvSpPr>
        <p:spPr>
          <a:xfrm>
            <a:off x="8407400" y="1676400"/>
            <a:ext cx="30099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^TNX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24D6A9-FF1A-3EB8-E568-D42836A70C90}"/>
              </a:ext>
            </a:extLst>
          </p:cNvPr>
          <p:cNvSpPr txBox="1"/>
          <p:nvPr/>
        </p:nvSpPr>
        <p:spPr>
          <a:xfrm>
            <a:off x="8407400" y="2311400"/>
            <a:ext cx="30099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 b="1">
                <a:solidFill>
                  <a:srgbClr val="1A1A2E"/>
                </a:solidFill>
                <a:latin typeface="Calibri" panose="020F0502020204030204" pitchFamily="34" charset="0"/>
              </a:rPr>
              <a:t>10-Year Treasury Yield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CD4CD8-6630-A3BC-44F4-7725FFD8991E}"/>
              </a:ext>
            </a:extLst>
          </p:cNvPr>
          <p:cNvSpPr txBox="1"/>
          <p:nvPr/>
        </p:nvSpPr>
        <p:spPr>
          <a:xfrm>
            <a:off x="8407400" y="2667000"/>
            <a:ext cx="30099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Covariate (past-only)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5A0C7F-DFBE-0DE5-519E-CB513D7315D8}"/>
              </a:ext>
            </a:extLst>
          </p:cNvPr>
          <p:cNvSpPr/>
          <p:nvPr/>
        </p:nvSpPr>
        <p:spPr>
          <a:xfrm>
            <a:off x="1270000" y="5334000"/>
            <a:ext cx="9652000" cy="50800"/>
          </a:xfrm>
          <a:prstGeom prst="rect">
            <a:avLst/>
          </a:prstGeom>
          <a:solidFill>
            <a:srgbClr val="CADCF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302A855-0577-E4CC-D14F-E29951316DB5}"/>
              </a:ext>
            </a:extLst>
          </p:cNvPr>
          <p:cNvSpPr/>
          <p:nvPr/>
        </p:nvSpPr>
        <p:spPr>
          <a:xfrm>
            <a:off x="1219200" y="5257800"/>
            <a:ext cx="203200" cy="203200"/>
          </a:xfrm>
          <a:prstGeom prst="ellipse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E6B8BFD-1264-326C-ED2A-687D47F29F58}"/>
              </a:ext>
            </a:extLst>
          </p:cNvPr>
          <p:cNvSpPr/>
          <p:nvPr/>
        </p:nvSpPr>
        <p:spPr>
          <a:xfrm>
            <a:off x="10769600" y="5257800"/>
            <a:ext cx="203200" cy="203200"/>
          </a:xfrm>
          <a:prstGeom prst="ellipse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F4CA03-FE01-31C2-1A2C-EDA380EBE604}"/>
              </a:ext>
            </a:extLst>
          </p:cNvPr>
          <p:cNvSpPr txBox="1"/>
          <p:nvPr/>
        </p:nvSpPr>
        <p:spPr>
          <a:xfrm>
            <a:off x="762000" y="5435600"/>
            <a:ext cx="177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b="1">
                <a:solidFill>
                  <a:srgbClr val="1E2761"/>
                </a:solidFill>
                <a:latin typeface="Calibri" panose="020F0502020204030204" pitchFamily="34" charset="0"/>
              </a:rPr>
              <a:t>2005-01-01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647B0E-B6C3-F546-D661-E5E3365FA62F}"/>
              </a:ext>
            </a:extLst>
          </p:cNvPr>
          <p:cNvSpPr txBox="1"/>
          <p:nvPr/>
        </p:nvSpPr>
        <p:spPr>
          <a:xfrm>
            <a:off x="9652000" y="5435600"/>
            <a:ext cx="1778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b="1">
                <a:solidFill>
                  <a:srgbClr val="1E2761"/>
                </a:solidFill>
                <a:latin typeface="Calibri" panose="020F0502020204030204" pitchFamily="34" charset="0"/>
              </a:rPr>
              <a:t>Present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995F9A-4B74-7535-1F7F-43F1F53C397C}"/>
              </a:ext>
            </a:extLst>
          </p:cNvPr>
          <p:cNvSpPr txBox="1"/>
          <p:nvPr/>
        </p:nvSpPr>
        <p:spPr>
          <a:xfrm>
            <a:off x="508000" y="59182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Refetched live via yfinance at run time -- always ends at today.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DE7740-0CC2-A3E6-0D89-38E583873BBF}"/>
              </a:ext>
            </a:extLst>
          </p:cNvPr>
          <p:cNvSpPr txBox="1"/>
          <p:nvPr/>
        </p:nvSpPr>
        <p:spPr>
          <a:xfrm>
            <a:off x="508000" y="6273800"/>
            <a:ext cx="11176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00">
                <a:solidFill>
                  <a:srgbClr val="6B7280"/>
                </a:solidFill>
                <a:latin typeface="Calibri" panose="020F0502020204030204" pitchFamily="34" charset="0"/>
              </a:rPr>
              <a:t>Source: Yahoo Finance (via yfinance)</a:t>
            </a:r>
            <a:endParaRPr lang="en-US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2351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A54190-1EDE-E330-D4B3-6ECDB5837436}"/>
              </a:ext>
            </a:extLst>
          </p:cNvPr>
          <p:cNvSpPr txBox="1"/>
          <p:nvPr/>
        </p:nvSpPr>
        <p:spPr>
          <a:xfrm>
            <a:off x="508000" y="431800"/>
            <a:ext cx="11176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1E2761"/>
                </a:solidFill>
                <a:latin typeface="Cambria" panose="02040503050406030204" pitchFamily="18" charset="0"/>
              </a:rPr>
              <a:t>Backtest Design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C5F064-14A0-DA18-783C-72CFA68E9C98}"/>
              </a:ext>
            </a:extLst>
          </p:cNvPr>
          <p:cNvSpPr/>
          <p:nvPr/>
        </p:nvSpPr>
        <p:spPr>
          <a:xfrm>
            <a:off x="508000" y="1270000"/>
            <a:ext cx="3517900" cy="1905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D7926F-2550-2063-26DB-E059DF84B277}"/>
              </a:ext>
            </a:extLst>
          </p:cNvPr>
          <p:cNvSpPr txBox="1"/>
          <p:nvPr/>
        </p:nvSpPr>
        <p:spPr>
          <a:xfrm>
            <a:off x="508000" y="1498600"/>
            <a:ext cx="35179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512 days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1CE1B2-9DB9-ACB7-463F-EA74EDFD267D}"/>
              </a:ext>
            </a:extLst>
          </p:cNvPr>
          <p:cNvSpPr txBox="1"/>
          <p:nvPr/>
        </p:nvSpPr>
        <p:spPr>
          <a:xfrm>
            <a:off x="685800" y="2057400"/>
            <a:ext cx="31623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Context window (~2 trading years)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881267E-2606-123E-0C5A-0930784C3EF9}"/>
              </a:ext>
            </a:extLst>
          </p:cNvPr>
          <p:cNvSpPr/>
          <p:nvPr/>
        </p:nvSpPr>
        <p:spPr>
          <a:xfrm>
            <a:off x="4330700" y="1270000"/>
            <a:ext cx="3517900" cy="1905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7F8C1A-F646-DA74-0CB8-C1AF3011DD19}"/>
              </a:ext>
            </a:extLst>
          </p:cNvPr>
          <p:cNvSpPr txBox="1"/>
          <p:nvPr/>
        </p:nvSpPr>
        <p:spPr>
          <a:xfrm>
            <a:off x="4330700" y="1498600"/>
            <a:ext cx="35179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5 &amp; 21 days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8DB88A-85A7-D6FE-10FD-A6CB662E6106}"/>
              </a:ext>
            </a:extLst>
          </p:cNvPr>
          <p:cNvSpPr txBox="1"/>
          <p:nvPr/>
        </p:nvSpPr>
        <p:spPr>
          <a:xfrm>
            <a:off x="4508500" y="2057400"/>
            <a:ext cx="31623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Forecast horizons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EB0886-955D-F27D-D5D4-A2700CB4079B}"/>
              </a:ext>
            </a:extLst>
          </p:cNvPr>
          <p:cNvSpPr/>
          <p:nvPr/>
        </p:nvSpPr>
        <p:spPr>
          <a:xfrm>
            <a:off x="8153400" y="1270000"/>
            <a:ext cx="3517900" cy="1905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CD1272-68BA-DEEF-8B1A-C8402412E720}"/>
              </a:ext>
            </a:extLst>
          </p:cNvPr>
          <p:cNvSpPr txBox="1"/>
          <p:nvPr/>
        </p:nvSpPr>
        <p:spPr>
          <a:xfrm>
            <a:off x="8153400" y="1498600"/>
            <a:ext cx="35179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60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D8178D-D067-DC1E-069F-E1A324E82578}"/>
              </a:ext>
            </a:extLst>
          </p:cNvPr>
          <p:cNvSpPr txBox="1"/>
          <p:nvPr/>
        </p:nvSpPr>
        <p:spPr>
          <a:xfrm>
            <a:off x="8331200" y="2057400"/>
            <a:ext cx="31623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Rolling-origin windows, 2005 -&gt; present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8101E22-7F23-54FF-70B3-97202CE94629}"/>
              </a:ext>
            </a:extLst>
          </p:cNvPr>
          <p:cNvSpPr/>
          <p:nvPr/>
        </p:nvSpPr>
        <p:spPr>
          <a:xfrm>
            <a:off x="508000" y="3606800"/>
            <a:ext cx="3517900" cy="1905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A5211-B79C-3C7A-CFB6-A8DBBE10A0C4}"/>
              </a:ext>
            </a:extLst>
          </p:cNvPr>
          <p:cNvSpPr txBox="1"/>
          <p:nvPr/>
        </p:nvSpPr>
        <p:spPr>
          <a:xfrm>
            <a:off x="508000" y="3835400"/>
            <a:ext cx="35179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9F7CDE-6E08-3BB9-3560-47597C1A1DD8}"/>
              </a:ext>
            </a:extLst>
          </p:cNvPr>
          <p:cNvSpPr txBox="1"/>
          <p:nvPr/>
        </p:nvSpPr>
        <p:spPr>
          <a:xfrm>
            <a:off x="685800" y="4394200"/>
            <a:ext cx="31623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Targets: price, simple return, log return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3DEA30-9703-7D05-4A24-286F24A4E914}"/>
              </a:ext>
            </a:extLst>
          </p:cNvPr>
          <p:cNvSpPr/>
          <p:nvPr/>
        </p:nvSpPr>
        <p:spPr>
          <a:xfrm>
            <a:off x="4330700" y="3606800"/>
            <a:ext cx="3517900" cy="1905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732CFD-D882-58D1-D513-7E66FE977206}"/>
              </a:ext>
            </a:extLst>
          </p:cNvPr>
          <p:cNvSpPr txBox="1"/>
          <p:nvPr/>
        </p:nvSpPr>
        <p:spPr>
          <a:xfrm>
            <a:off x="4330700" y="3835400"/>
            <a:ext cx="35179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FCA101-2048-328D-A37C-9422C7559E10}"/>
              </a:ext>
            </a:extLst>
          </p:cNvPr>
          <p:cNvSpPr txBox="1"/>
          <p:nvPr/>
        </p:nvSpPr>
        <p:spPr>
          <a:xfrm>
            <a:off x="4508500" y="4394200"/>
            <a:ext cx="31623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Quantile levels (0.1 - 0.9)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75B31D8-D77C-9A85-E327-34CCE4B33B15}"/>
              </a:ext>
            </a:extLst>
          </p:cNvPr>
          <p:cNvSpPr/>
          <p:nvPr/>
        </p:nvSpPr>
        <p:spPr>
          <a:xfrm>
            <a:off x="8153400" y="3606800"/>
            <a:ext cx="3517900" cy="19050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 w="19050" cap="flat" cmpd="sng" algn="ctr">
            <a:noFill/>
            <a:prstDash val="solid"/>
            <a:miter lim="800000"/>
          </a:ln>
          <a:effectLst>
            <a:innerShdw blurRad="127000" dist="38100" dir="5400000">
              <a:srgbClr val="888888">
                <a:alpha val="25000"/>
              </a:srgbClr>
            </a:inn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6A274C-B4B8-BD87-A63A-BF3BD99BBDFF}"/>
              </a:ext>
            </a:extLst>
          </p:cNvPr>
          <p:cNvSpPr txBox="1"/>
          <p:nvPr/>
        </p:nvSpPr>
        <p:spPr>
          <a:xfrm>
            <a:off x="8153400" y="3835400"/>
            <a:ext cx="35179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400" b="1">
                <a:solidFill>
                  <a:srgbClr val="1E2761"/>
                </a:solidFill>
                <a:latin typeface="Cambria" panose="02040503050406030204" pitchFamily="18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87689B-459F-C718-8213-380AF6CB3E97}"/>
              </a:ext>
            </a:extLst>
          </p:cNvPr>
          <p:cNvSpPr txBox="1"/>
          <p:nvPr/>
        </p:nvSpPr>
        <p:spPr>
          <a:xfrm>
            <a:off x="8331200" y="4394200"/>
            <a:ext cx="31623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>
                <a:solidFill>
                  <a:srgbClr val="6B7280"/>
                </a:solidFill>
                <a:latin typeface="Calibri" panose="020F0502020204030204" pitchFamily="34" charset="0"/>
              </a:rPr>
              <a:t>Metrics: MASE, sMAPE, WQL</a:t>
            </a:r>
          </a:p>
        </p:txBody>
      </p:sp>
    </p:spTree>
    <p:extLst>
      <p:ext uri="{BB962C8B-B14F-4D97-AF65-F5344CB8AC3E}">
        <p14:creationId xmlns:p14="http://schemas.microsoft.com/office/powerpoint/2010/main" val="3099436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416EBC48-58E5-B623-C628-D0E67B3708EE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EB68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F7AD2C-EBEA-3060-16A6-FCFF593012DA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Chronos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BA7D81-1FAE-ECAC-555A-0795EB7C3B5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69B476-6B75-11B2-35E9-983F07ABC11D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455503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94A45E7-7E09-836C-1CFF-547C0E87C15F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EB68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838A8A-1A37-CDEE-9A0D-41E58C26B039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Chronos-2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C38A4-5DBA-A335-F3DE-265E7135691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5F43AC-4F19-B010-6A19-52B9FF8EC81C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3448165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4D1A81E-3D81-178B-A4F8-B322EA8647FF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EB68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C11C7-D21E-4D04-7A0A-EE65C6094EEF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Chronos-Bolt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BE4948-9378-BDCB-D735-5F820E3BD7A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48BFB6-1B0F-9130-531A-51FF6F8BD3C6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2694180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20AB90B-F090-8F3F-E710-865A53872020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2A78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51B58D-73E4-405C-E8A4-632EE4EB372E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Moirai-1.0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BD76FD-9241-AB14-A7DF-B6F551C4630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1816C8-A749-E405-D192-6E190DFD9FDE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378966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3B8F80E-8921-F440-CA9F-972307193D14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2A78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4D0316-CAD8-C01B-3D30-15EDFD0AEFD3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Moirai-2.0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0D3AB7-4163-0AE6-BAF0-1D41D6398A5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EE08E5-0C50-604C-0644-88D538072E94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2364321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5BEAB52-17A9-524F-3065-4CC7D633A94E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2A78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CD1F26-7D3E-0432-5992-CD6D515F3E39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Moirai-MoE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F3CB12-772D-F662-0EC0-CD7F399E461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7F6935-4010-F214-47E0-62A3FEE43375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266876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E83A506-94D6-BDB7-D08E-122603C51430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1BAF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27F20A-F2B6-D5A6-4F39-DD3CD6CB420E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TimesFM-1.0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EF9B30-20FC-0F0E-C5CA-5BAFF4AA858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BC5091-C004-6E0B-82DF-E89E650C36F3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2480056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1A46EC0-BB0B-7466-F898-F183C636AC29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1BAF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85CD5B-504E-D956-E4E6-8C419245013C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TimesFM-2.0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9C7D14-BBAE-E45B-E9DD-95CEEC7B0B8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13A97C-625D-8B83-3FE9-952C4C9BD916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40345922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7CD7A2F-6DD9-8207-6C4F-A8A1B8B83AAD}"/>
              </a:ext>
            </a:extLst>
          </p:cNvPr>
          <p:cNvSpPr/>
          <p:nvPr/>
        </p:nvSpPr>
        <p:spPr>
          <a:xfrm>
            <a:off x="508000" y="508000"/>
            <a:ext cx="254000" cy="254000"/>
          </a:xfrm>
          <a:prstGeom prst="ellipse">
            <a:avLst/>
          </a:prstGeom>
          <a:solidFill>
            <a:srgbClr val="1BAF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5896E-D151-1664-E4C6-59ABC554B567}"/>
              </a:ext>
            </a:extLst>
          </p:cNvPr>
          <p:cNvSpPr txBox="1"/>
          <p:nvPr/>
        </p:nvSpPr>
        <p:spPr>
          <a:xfrm>
            <a:off x="889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Example Forecast -- TimesFM-2.5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D20390-B523-FA40-65BC-9C122B50E8F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83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54A22E-8FE6-7211-5367-C307B0BFD32F}"/>
              </a:ext>
            </a:extLst>
          </p:cNvPr>
          <p:cNvSpPr txBox="1"/>
          <p:nvPr/>
        </p:nvSpPr>
        <p:spPr>
          <a:xfrm>
            <a:off x="508000" y="53340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History, actual, naive baseline (blue, dotted), and zero-shot forecast (orange) for Close / Return / Log return -- most recent window, 21-day horizon.</a:t>
            </a:r>
          </a:p>
        </p:txBody>
      </p:sp>
    </p:spTree>
    <p:extLst>
      <p:ext uri="{BB962C8B-B14F-4D97-AF65-F5344CB8AC3E}">
        <p14:creationId xmlns:p14="http://schemas.microsoft.com/office/powerpoint/2010/main" val="1819416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82F5CB-0E0D-B746-9E36-3A2E528710E0}"/>
              </a:ext>
            </a:extLst>
          </p:cNvPr>
          <p:cNvSpPr txBox="1"/>
          <p:nvPr/>
        </p:nvSpPr>
        <p:spPr>
          <a:xfrm>
            <a:off x="508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Accuracy vs. Forecast Horizon (MASE)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1B81E8-7448-2CFD-FE71-B7F296A2B7D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270000"/>
            <a:ext cx="11176000" cy="304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3A7BC5-7D38-D16E-1E97-94877908BE83}"/>
              </a:ext>
            </a:extLst>
          </p:cNvPr>
          <p:cNvSpPr txBox="1"/>
          <p:nvPr/>
        </p:nvSpPr>
        <p:spPr>
          <a:xfrm>
            <a:off x="508000" y="45466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Does accuracy fall off from 5-day to 21-day? Faceted by target; color = family, marker = version within family.</a:t>
            </a:r>
          </a:p>
        </p:txBody>
      </p:sp>
    </p:spTree>
    <p:extLst>
      <p:ext uri="{BB962C8B-B14F-4D97-AF65-F5344CB8AC3E}">
        <p14:creationId xmlns:p14="http://schemas.microsoft.com/office/powerpoint/2010/main" val="1668443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9F7AC3-8F4C-643E-26A6-67D3000F5826}"/>
              </a:ext>
            </a:extLst>
          </p:cNvPr>
          <p:cNvSpPr txBox="1"/>
          <p:nvPr/>
        </p:nvSpPr>
        <p:spPr>
          <a:xfrm>
            <a:off x="508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Headline Comparison -- MASE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E12476-A477-2922-9920-CC954DC0760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270000"/>
            <a:ext cx="9652000" cy="4826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7EF1DD-B68B-3023-6CE0-B76AF8CFD85D}"/>
              </a:ext>
            </a:extLst>
          </p:cNvPr>
          <p:cNvSpPr txBox="1"/>
          <p:nvPr/>
        </p:nvSpPr>
        <p:spPr>
          <a:xfrm>
            <a:off x="508000" y="63246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Price target, 21-day horizon, univariate variant. Dotted line marks the naive (repeat-yesterday) baseline.</a:t>
            </a:r>
          </a:p>
        </p:txBody>
      </p:sp>
    </p:spTree>
    <p:extLst>
      <p:ext uri="{BB962C8B-B14F-4D97-AF65-F5344CB8AC3E}">
        <p14:creationId xmlns:p14="http://schemas.microsoft.com/office/powerpoint/2010/main" val="343942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45F2A8-A06C-7D23-A264-451E93AD3983}"/>
              </a:ext>
            </a:extLst>
          </p:cNvPr>
          <p:cNvSpPr txBox="1"/>
          <p:nvPr/>
        </p:nvSpPr>
        <p:spPr>
          <a:xfrm>
            <a:off x="508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Headline Comparison -- sMAPE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EA7B1-01D5-2C60-A62C-D2A5ACED15C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270000"/>
            <a:ext cx="9652000" cy="4826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ADD551-CA5E-7F0D-E839-5E0D3D5C3515}"/>
              </a:ext>
            </a:extLst>
          </p:cNvPr>
          <p:cNvSpPr txBox="1"/>
          <p:nvPr/>
        </p:nvSpPr>
        <p:spPr>
          <a:xfrm>
            <a:off x="508000" y="63246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Price target, 21-day horizon, univariate variant. Dotted line marks the naive (repeat-yesterday) baseline.</a:t>
            </a:r>
          </a:p>
        </p:txBody>
      </p:sp>
    </p:spTree>
    <p:extLst>
      <p:ext uri="{BB962C8B-B14F-4D97-AF65-F5344CB8AC3E}">
        <p14:creationId xmlns:p14="http://schemas.microsoft.com/office/powerpoint/2010/main" val="3542949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93F076-D851-7DB9-6C24-3F23BCC6DFFA}"/>
              </a:ext>
            </a:extLst>
          </p:cNvPr>
          <p:cNvSpPr txBox="1"/>
          <p:nvPr/>
        </p:nvSpPr>
        <p:spPr>
          <a:xfrm>
            <a:off x="508000" y="431800"/>
            <a:ext cx="10160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600" b="1">
                <a:solidFill>
                  <a:srgbClr val="1E2761"/>
                </a:solidFill>
                <a:latin typeface="Cambria" panose="02040503050406030204" pitchFamily="18" charset="0"/>
              </a:rPr>
              <a:t>Headline Comparison -- WQL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5E025F-331C-28D5-D82F-3AD6CCF8FAC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1270000"/>
            <a:ext cx="9652000" cy="4826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DD4B86-C666-0C49-BA54-511787DB67AD}"/>
              </a:ext>
            </a:extLst>
          </p:cNvPr>
          <p:cNvSpPr txBox="1"/>
          <p:nvPr/>
        </p:nvSpPr>
        <p:spPr>
          <a:xfrm>
            <a:off x="508000" y="6324600"/>
            <a:ext cx="11176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200" i="1">
                <a:solidFill>
                  <a:srgbClr val="6B7280"/>
                </a:solidFill>
                <a:latin typeface="Calibri" panose="020F0502020204030204" pitchFamily="34" charset="0"/>
              </a:rPr>
              <a:t>Price target, 21-day horizon, univariate variant. Dotted line marks the naive (repeat-yesterday) baseline.</a:t>
            </a:r>
          </a:p>
        </p:txBody>
      </p:sp>
    </p:spTree>
    <p:extLst>
      <p:ext uri="{BB962C8B-B14F-4D97-AF65-F5344CB8AC3E}">
        <p14:creationId xmlns:p14="http://schemas.microsoft.com/office/powerpoint/2010/main" val="2416114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657</Words>
  <Application>Microsoft Office PowerPoint</Application>
  <PresentationFormat>Custom</PresentationFormat>
  <Paragraphs>94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Agrim Gupta</dc:creator>
  <cp:lastModifiedBy>Agrim Gupta</cp:lastModifiedBy>
  <cp:revision>1</cp:revision>
  <dcterms:created xsi:type="dcterms:W3CDTF">2026-08-11T20:39:11Z</dcterms:created>
  <dcterms:modified xsi:type="dcterms:W3CDTF">2026-08-11T20:39:12Z</dcterms:modified>
</cp:coreProperties>
</file>